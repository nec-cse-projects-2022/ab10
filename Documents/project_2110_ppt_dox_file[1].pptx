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1"/>
  </p:notesMasterIdLst>
  <p:handoutMasterIdLst>
    <p:handoutMasterId r:id="rId32"/>
  </p:handoutMasterIdLst>
  <p:sldIdLst>
    <p:sldId id="281" r:id="rId2"/>
    <p:sldId id="260" r:id="rId3"/>
    <p:sldId id="262" r:id="rId4"/>
    <p:sldId id="279" r:id="rId5"/>
    <p:sldId id="263" r:id="rId6"/>
    <p:sldId id="280" r:id="rId7"/>
    <p:sldId id="265" r:id="rId8"/>
    <p:sldId id="270" r:id="rId9"/>
    <p:sldId id="266" r:id="rId10"/>
    <p:sldId id="268" r:id="rId11"/>
    <p:sldId id="269" r:id="rId12"/>
    <p:sldId id="283" r:id="rId13"/>
    <p:sldId id="284" r:id="rId14"/>
    <p:sldId id="287" r:id="rId15"/>
    <p:sldId id="288" r:id="rId16"/>
    <p:sldId id="305" r:id="rId17"/>
    <p:sldId id="290" r:id="rId18"/>
    <p:sldId id="303" r:id="rId19"/>
    <p:sldId id="291" r:id="rId20"/>
    <p:sldId id="301" r:id="rId21"/>
    <p:sldId id="302" r:id="rId22"/>
    <p:sldId id="304" r:id="rId23"/>
    <p:sldId id="292" r:id="rId24"/>
    <p:sldId id="293" r:id="rId25"/>
    <p:sldId id="296" r:id="rId26"/>
    <p:sldId id="297" r:id="rId27"/>
    <p:sldId id="298" r:id="rId28"/>
    <p:sldId id="289" r:id="rId29"/>
    <p:sldId id="28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84" autoAdjust="0"/>
    <p:restoredTop sz="94660"/>
  </p:normalViewPr>
  <p:slideViewPr>
    <p:cSldViewPr snapToGrid="0">
      <p:cViewPr varScale="1">
        <p:scale>
          <a:sx n="70" d="100"/>
          <a:sy n="70" d="100"/>
        </p:scale>
        <p:origin x="724" y="48"/>
      </p:cViewPr>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199655-05E8-4463-9482-2D23FD405AF3}" type="datetimeFigureOut">
              <a:rPr lang="en-IN" smtClean="0"/>
              <a:t>06-12-2025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C9CC48-2212-46F0-B96C-6F8104E82434}" type="slidenum">
              <a:rPr lang="en-IN" smtClean="0"/>
              <a:t>‹#›</a:t>
            </a:fld>
            <a:endParaRPr lang="en-IN"/>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3851868"/>
          </a:xfrm>
          <a:prstGeom prst="rect">
            <a:avLst/>
          </a:prstGeom>
        </p:spPr>
      </p:pic>
    </p:spTree>
    <p:extLst>
      <p:ext uri="{BB962C8B-B14F-4D97-AF65-F5344CB8AC3E}">
        <p14:creationId xmlns:p14="http://schemas.microsoft.com/office/powerpoint/2010/main" val="12714582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DE0E28-087F-4BBF-B8BC-055CB0BBD464}" type="datetimeFigureOut">
              <a:rPr lang="en-IN" smtClean="0"/>
              <a:t>06-12-2025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5E3DF0-35B4-40E5-AC91-1A2000F81275}" type="slidenum">
              <a:rPr lang="en-IN" smtClean="0"/>
              <a:t>‹#›</a:t>
            </a:fld>
            <a:endParaRPr lang="en-IN"/>
          </a:p>
        </p:txBody>
      </p:sp>
    </p:spTree>
    <p:extLst>
      <p:ext uri="{BB962C8B-B14F-4D97-AF65-F5344CB8AC3E}">
        <p14:creationId xmlns:p14="http://schemas.microsoft.com/office/powerpoint/2010/main" val="260551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65E3DF0-35B4-40E5-AC91-1A2000F81275}" type="slidenum">
              <a:rPr lang="en-IN" smtClean="0"/>
              <a:t>1</a:t>
            </a:fld>
            <a:endParaRPr lang="en-IN"/>
          </a:p>
        </p:txBody>
      </p:sp>
    </p:spTree>
    <p:extLst>
      <p:ext uri="{BB962C8B-B14F-4D97-AF65-F5344CB8AC3E}">
        <p14:creationId xmlns:p14="http://schemas.microsoft.com/office/powerpoint/2010/main" val="1257921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r>
              <a:rPr lang="en-US"/>
              <a:t>10-11-2025</a:t>
            </a:r>
            <a:endParaRPr lang="en-IN"/>
          </a:p>
        </p:txBody>
      </p:sp>
      <p:sp>
        <p:nvSpPr>
          <p:cNvPr id="5" name="Footer Placeholder 4"/>
          <p:cNvSpPr>
            <a:spLocks noGrp="1"/>
          </p:cNvSpPr>
          <p:nvPr>
            <p:ph type="ftr" sz="quarter" idx="11"/>
          </p:nvPr>
        </p:nvSpPr>
        <p:spPr/>
        <p:txBody>
          <a:bodyPr/>
          <a:lstStyle/>
          <a:p>
            <a:r>
              <a:rPr lang="en-US"/>
              <a:t>Review No. 01         Batch No.  AB6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4231652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10-11-2025</a:t>
            </a:r>
            <a:endParaRPr lang="en-IN"/>
          </a:p>
        </p:txBody>
      </p:sp>
      <p:sp>
        <p:nvSpPr>
          <p:cNvPr id="5" name="Footer Placeholder 4"/>
          <p:cNvSpPr>
            <a:spLocks noGrp="1"/>
          </p:cNvSpPr>
          <p:nvPr>
            <p:ph type="ftr" sz="quarter" idx="11"/>
          </p:nvPr>
        </p:nvSpPr>
        <p:spPr/>
        <p:txBody>
          <a:bodyPr/>
          <a:lstStyle/>
          <a:p>
            <a:r>
              <a:rPr lang="en-US"/>
              <a:t>Review No. 01         Batch No.  AB6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7802064" cy="4382112"/>
          </a:xfrm>
          <a:prstGeom prst="rect">
            <a:avLst/>
          </a:prstGeom>
        </p:spPr>
      </p:pic>
    </p:spTree>
    <p:extLst>
      <p:ext uri="{BB962C8B-B14F-4D97-AF65-F5344CB8AC3E}">
        <p14:creationId xmlns:p14="http://schemas.microsoft.com/office/powerpoint/2010/main" val="2262376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10-11-2025</a:t>
            </a:r>
            <a:endParaRPr lang="en-IN"/>
          </a:p>
        </p:txBody>
      </p:sp>
      <p:sp>
        <p:nvSpPr>
          <p:cNvPr id="5" name="Footer Placeholder 4"/>
          <p:cNvSpPr>
            <a:spLocks noGrp="1"/>
          </p:cNvSpPr>
          <p:nvPr>
            <p:ph type="ftr" sz="quarter" idx="11"/>
          </p:nvPr>
        </p:nvSpPr>
        <p:spPr/>
        <p:txBody>
          <a:bodyPr/>
          <a:lstStyle/>
          <a:p>
            <a:r>
              <a:rPr lang="en-US"/>
              <a:t>Review No. 01         Batch No.  AB6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132791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t>10-11-2025</a:t>
            </a:r>
            <a:endParaRPr lang="en-IN"/>
          </a:p>
        </p:txBody>
      </p:sp>
      <p:sp>
        <p:nvSpPr>
          <p:cNvPr id="6" name="Footer Placeholder 5"/>
          <p:cNvSpPr>
            <a:spLocks noGrp="1"/>
          </p:cNvSpPr>
          <p:nvPr>
            <p:ph type="ftr" sz="quarter" idx="11"/>
          </p:nvPr>
        </p:nvSpPr>
        <p:spPr/>
        <p:txBody>
          <a:bodyPr/>
          <a:lstStyle/>
          <a:p>
            <a:r>
              <a:rPr lang="en-US"/>
              <a:t>Review No. 01         Batch No.  AB6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402758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a:t>10-11-2025</a:t>
            </a:r>
            <a:endParaRPr lang="en-IN"/>
          </a:p>
        </p:txBody>
      </p:sp>
      <p:sp>
        <p:nvSpPr>
          <p:cNvPr id="8" name="Footer Placeholder 7"/>
          <p:cNvSpPr>
            <a:spLocks noGrp="1"/>
          </p:cNvSpPr>
          <p:nvPr>
            <p:ph type="ftr" sz="quarter" idx="11"/>
          </p:nvPr>
        </p:nvSpPr>
        <p:spPr/>
        <p:txBody>
          <a:bodyPr/>
          <a:lstStyle/>
          <a:p>
            <a:r>
              <a:rPr lang="en-US"/>
              <a:t>Review No. 01         Batch No.  AB6         Department of CSE</a:t>
            </a:r>
            <a:endParaRPr lang="en-IN"/>
          </a:p>
        </p:txBody>
      </p:sp>
      <p:sp>
        <p:nvSpPr>
          <p:cNvPr id="9" name="Slide Number Placeholder 8"/>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859279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t>10-11-2025</a:t>
            </a:r>
            <a:endParaRPr lang="en-IN"/>
          </a:p>
        </p:txBody>
      </p:sp>
      <p:sp>
        <p:nvSpPr>
          <p:cNvPr id="4" name="Footer Placeholder 3"/>
          <p:cNvSpPr>
            <a:spLocks noGrp="1"/>
          </p:cNvSpPr>
          <p:nvPr>
            <p:ph type="ftr" sz="quarter" idx="11"/>
          </p:nvPr>
        </p:nvSpPr>
        <p:spPr/>
        <p:txBody>
          <a:bodyPr/>
          <a:lstStyle/>
          <a:p>
            <a:r>
              <a:rPr lang="en-US"/>
              <a:t>Review No. 01         Batch No.  AB6         Department of CSE</a:t>
            </a:r>
            <a:endParaRPr lang="en-IN"/>
          </a:p>
        </p:txBody>
      </p:sp>
      <p:sp>
        <p:nvSpPr>
          <p:cNvPr id="5" name="Slide Number Placeholder 4"/>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826415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10-11-2025</a:t>
            </a:r>
            <a:endParaRPr lang="en-IN"/>
          </a:p>
        </p:txBody>
      </p:sp>
      <p:sp>
        <p:nvSpPr>
          <p:cNvPr id="3" name="Footer Placeholder 2"/>
          <p:cNvSpPr>
            <a:spLocks noGrp="1"/>
          </p:cNvSpPr>
          <p:nvPr>
            <p:ph type="ftr" sz="quarter" idx="11"/>
          </p:nvPr>
        </p:nvSpPr>
        <p:spPr/>
        <p:txBody>
          <a:bodyPr/>
          <a:lstStyle/>
          <a:p>
            <a:r>
              <a:rPr lang="en-US"/>
              <a:t>Review No. 01         Batch No.  AB6         Department of CSE</a:t>
            </a:r>
            <a:endParaRPr lang="en-IN"/>
          </a:p>
        </p:txBody>
      </p:sp>
      <p:sp>
        <p:nvSpPr>
          <p:cNvPr id="4" name="Slide Number Placeholder 3"/>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459629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10-11-2025</a:t>
            </a:r>
            <a:endParaRPr lang="en-IN"/>
          </a:p>
        </p:txBody>
      </p:sp>
      <p:sp>
        <p:nvSpPr>
          <p:cNvPr id="6" name="Footer Placeholder 5"/>
          <p:cNvSpPr>
            <a:spLocks noGrp="1"/>
          </p:cNvSpPr>
          <p:nvPr>
            <p:ph type="ftr" sz="quarter" idx="11"/>
          </p:nvPr>
        </p:nvSpPr>
        <p:spPr/>
        <p:txBody>
          <a:bodyPr/>
          <a:lstStyle/>
          <a:p>
            <a:r>
              <a:rPr lang="en-US"/>
              <a:t>Review No. 01         Batch No.  AB6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681320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10-11-2025</a:t>
            </a:r>
            <a:endParaRPr lang="en-IN"/>
          </a:p>
        </p:txBody>
      </p:sp>
      <p:sp>
        <p:nvSpPr>
          <p:cNvPr id="6" name="Footer Placeholder 5"/>
          <p:cNvSpPr>
            <a:spLocks noGrp="1"/>
          </p:cNvSpPr>
          <p:nvPr>
            <p:ph type="ftr" sz="quarter" idx="11"/>
          </p:nvPr>
        </p:nvSpPr>
        <p:spPr/>
        <p:txBody>
          <a:bodyPr/>
          <a:lstStyle/>
          <a:p>
            <a:r>
              <a:rPr lang="en-US"/>
              <a:t>Review No. 01         Batch No.  AB6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602278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10-11-2025</a:t>
            </a:r>
            <a:endParaRPr lang="en-IN"/>
          </a:p>
        </p:txBody>
      </p:sp>
      <p:sp>
        <p:nvSpPr>
          <p:cNvPr id="5" name="Footer Placeholder 4"/>
          <p:cNvSpPr>
            <a:spLocks noGrp="1"/>
          </p:cNvSpPr>
          <p:nvPr>
            <p:ph type="ftr" sz="quarter" idx="11"/>
          </p:nvPr>
        </p:nvSpPr>
        <p:spPr/>
        <p:txBody>
          <a:bodyPr/>
          <a:lstStyle/>
          <a:p>
            <a:r>
              <a:rPr lang="en-US"/>
              <a:t>Review No. 01         Batch No.  AB6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394357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10-11-2025</a:t>
            </a:r>
            <a:endParaRPr lang="en-IN"/>
          </a:p>
        </p:txBody>
      </p:sp>
      <p:sp>
        <p:nvSpPr>
          <p:cNvPr id="5" name="Footer Placeholder 4"/>
          <p:cNvSpPr>
            <a:spLocks noGrp="1"/>
          </p:cNvSpPr>
          <p:nvPr>
            <p:ph type="ftr" sz="quarter" idx="11"/>
          </p:nvPr>
        </p:nvSpPr>
        <p:spPr/>
        <p:txBody>
          <a:bodyPr/>
          <a:lstStyle/>
          <a:p>
            <a:r>
              <a:rPr lang="en-US"/>
              <a:t>Review No. 01         Batch No.  AB6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1839206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10-11-2025</a:t>
            </a:r>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No. 01         Batch No.  AB6         Department of CSE</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DCBD69-296B-4D7C-AF62-9B588FC78772}" type="slidenum">
              <a:rPr lang="en-IN" smtClean="0"/>
              <a:t>‹#›</a:t>
            </a:fld>
            <a:endParaRPr lang="en-IN"/>
          </a:p>
        </p:txBody>
      </p:sp>
    </p:spTree>
    <p:extLst>
      <p:ext uri="{BB962C8B-B14F-4D97-AF65-F5344CB8AC3E}">
        <p14:creationId xmlns:p14="http://schemas.microsoft.com/office/powerpoint/2010/main" val="4106517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7"/>
          <p:cNvSpPr txBox="1">
            <a:spLocks/>
          </p:cNvSpPr>
          <p:nvPr/>
        </p:nvSpPr>
        <p:spPr>
          <a:xfrm>
            <a:off x="1754154" y="705471"/>
            <a:ext cx="8915400" cy="375925"/>
          </a:xfrm>
          <a:prstGeom prst="roundRect">
            <a:avLst>
              <a:gd name="adj" fmla="val 16667"/>
            </a:avLst>
          </a:prstGeom>
          <a:ln w="25400" cap="flat" cmpd="sng" algn="ctr">
            <a:solidFill>
              <a:schemeClr val="bg1"/>
            </a:solidFill>
            <a:prstDash val="solid"/>
          </a:ln>
        </p:spPr>
        <p:style>
          <a:lnRef idx="2">
            <a:schemeClr val="accent1"/>
          </a:lnRef>
          <a:fillRef idx="1">
            <a:schemeClr val="lt1"/>
          </a:fillRef>
          <a:effectRef idx="0">
            <a:schemeClr val="accent1"/>
          </a:effectRef>
          <a:fontRef idx="minor">
            <a:schemeClr val="dk1"/>
          </a:fontRef>
        </p:style>
        <p:txBody>
          <a:bodyPr>
            <a:noAutofit/>
          </a:bodyPr>
          <a:lstStyle/>
          <a:p>
            <a:pPr lvl="0" algn="ctr">
              <a:spcBef>
                <a:spcPct val="20000"/>
              </a:spcBef>
              <a:defRPr/>
            </a:pPr>
            <a:r>
              <a:rPr lang="en-US" b="1" dirty="0">
                <a:latin typeface="Times New Roman" panose="02020603050405020304" pitchFamily="18" charset="0"/>
                <a:cs typeface="Times New Roman" pitchFamily="18" charset="0"/>
              </a:rPr>
              <a:t>Department of Computer Science and Engineering</a:t>
            </a:r>
          </a:p>
          <a:p>
            <a:pPr lvl="0" algn="ctr">
              <a:spcBef>
                <a:spcPct val="20000"/>
              </a:spcBef>
              <a:defRPr/>
            </a:pPr>
            <a:r>
              <a:rPr lang="en-US" sz="2800" b="1" dirty="0" err="1">
                <a:solidFill>
                  <a:srgbClr val="FF0000"/>
                </a:solidFill>
              </a:rPr>
              <a:t>FaceMaskify</a:t>
            </a:r>
            <a:r>
              <a:rPr lang="en-US" sz="2800" b="1" dirty="0">
                <a:solidFill>
                  <a:srgbClr val="FF0000"/>
                </a:solidFill>
              </a:rPr>
              <a:t>: A Deep Learning Approach to Face Mask Classification</a:t>
            </a:r>
            <a:endParaRPr lang="en-US" sz="2800" b="1" dirty="0">
              <a:solidFill>
                <a:srgbClr val="FF0000"/>
              </a:solidFill>
              <a:latin typeface="Times New Roman" panose="02020603050405020304" pitchFamily="18" charset="0"/>
              <a:cs typeface="Times New Roman" pitchFamily="18" charset="0"/>
            </a:endParaRPr>
          </a:p>
        </p:txBody>
      </p:sp>
      <p:sp>
        <p:nvSpPr>
          <p:cNvPr id="16" name="Subtitle 2"/>
          <p:cNvSpPr>
            <a:spLocks noGrp="1"/>
          </p:cNvSpPr>
          <p:nvPr>
            <p:ph type="subTitle" idx="1"/>
          </p:nvPr>
        </p:nvSpPr>
        <p:spPr>
          <a:xfrm>
            <a:off x="1754154" y="1966120"/>
            <a:ext cx="9144000" cy="1341058"/>
          </a:xfrm>
        </p:spPr>
        <p:txBody>
          <a:bodyPr>
            <a:normAutofit lnSpcReduction="10000"/>
          </a:bodyPr>
          <a:lstStyle/>
          <a:p>
            <a:pPr eaLnBrk="1" hangingPunct="1"/>
            <a:r>
              <a:rPr lang="en-US" altLang="en-US" sz="1600" dirty="0">
                <a:solidFill>
                  <a:schemeClr val="tx1"/>
                </a:solidFill>
                <a:latin typeface="Times New Roman" panose="02020603050405020304" pitchFamily="18" charset="0"/>
                <a:cs typeface="Times New Roman" pitchFamily="18" charset="0"/>
              </a:rPr>
              <a:t>PRESENTED BY</a:t>
            </a:r>
          </a:p>
          <a:p>
            <a:pPr algn="l" eaLnBrk="1" hangingPunct="1"/>
            <a:r>
              <a:rPr lang="en-US" altLang="en-US" sz="1600" dirty="0">
                <a:solidFill>
                  <a:schemeClr val="tx1"/>
                </a:solidFill>
                <a:latin typeface="Times New Roman" panose="02020603050405020304" pitchFamily="18" charset="0"/>
                <a:cs typeface="Times New Roman" pitchFamily="18" charset="0"/>
              </a:rPr>
              <a:t>			     </a:t>
            </a:r>
            <a:r>
              <a:rPr lang="en-US" altLang="en-US" sz="1600" dirty="0" err="1">
                <a:solidFill>
                  <a:schemeClr val="tx1"/>
                </a:solidFill>
                <a:latin typeface="Times New Roman" panose="02020603050405020304" pitchFamily="18" charset="0"/>
                <a:cs typeface="Times New Roman" pitchFamily="18" charset="0"/>
              </a:rPr>
              <a:t>Battineni</a:t>
            </a:r>
            <a:r>
              <a:rPr lang="en-US" altLang="en-US" sz="1600" dirty="0">
                <a:solidFill>
                  <a:schemeClr val="tx1"/>
                </a:solidFill>
                <a:latin typeface="Times New Roman" panose="02020603050405020304" pitchFamily="18" charset="0"/>
                <a:cs typeface="Times New Roman" pitchFamily="18" charset="0"/>
              </a:rPr>
              <a:t> Arun Kumar</a:t>
            </a:r>
            <a:r>
              <a:rPr lang="en-US" altLang="en-US" sz="1600" dirty="0">
                <a:latin typeface="Times New Roman" panose="02020603050405020304" pitchFamily="18" charset="0"/>
                <a:cs typeface="Times New Roman" pitchFamily="18" charset="0"/>
              </a:rPr>
              <a:t>                    (22471A0503)</a:t>
            </a:r>
          </a:p>
          <a:p>
            <a:pPr algn="l" eaLnBrk="1" hangingPunct="1"/>
            <a:r>
              <a:rPr lang="en-US" altLang="en-US" sz="1600" dirty="0">
                <a:solidFill>
                  <a:schemeClr val="tx1"/>
                </a:solidFill>
                <a:latin typeface="Times New Roman" panose="02020603050405020304" pitchFamily="18" charset="0"/>
                <a:cs typeface="Times New Roman" pitchFamily="18" charset="0"/>
              </a:rPr>
              <a:t>			     </a:t>
            </a:r>
            <a:r>
              <a:rPr lang="en-US" altLang="en-US" sz="1600" dirty="0" err="1">
                <a:latin typeface="Times New Roman" panose="02020603050405020304" pitchFamily="18" charset="0"/>
                <a:cs typeface="Times New Roman" pitchFamily="18" charset="0"/>
              </a:rPr>
              <a:t>Kondaveety</a:t>
            </a:r>
            <a:r>
              <a:rPr lang="en-US" altLang="en-US" sz="1600" dirty="0">
                <a:latin typeface="Times New Roman" panose="02020603050405020304" pitchFamily="18" charset="0"/>
                <a:cs typeface="Times New Roman" pitchFamily="18" charset="0"/>
              </a:rPr>
              <a:t> Venugopala Swamy</a:t>
            </a:r>
            <a:r>
              <a:rPr lang="en-US" altLang="en-US" sz="1600" dirty="0">
                <a:solidFill>
                  <a:schemeClr val="tx1"/>
                </a:solidFill>
                <a:latin typeface="Times New Roman" panose="02020603050405020304" pitchFamily="18" charset="0"/>
                <a:cs typeface="Times New Roman" pitchFamily="18" charset="0"/>
              </a:rPr>
              <a:t>    (22471A0532)</a:t>
            </a:r>
          </a:p>
          <a:p>
            <a:pPr algn="l"/>
            <a:r>
              <a:rPr lang="en-US" altLang="en-US" sz="1600" dirty="0">
                <a:solidFill>
                  <a:schemeClr val="tx1"/>
                </a:solidFill>
                <a:latin typeface="Times New Roman" panose="02020603050405020304" pitchFamily="18" charset="0"/>
                <a:cs typeface="Times New Roman" pitchFamily="18" charset="0"/>
              </a:rPr>
              <a:t>	</a:t>
            </a:r>
            <a:r>
              <a:rPr lang="en-US" altLang="en-US" sz="1600" dirty="0">
                <a:latin typeface="Times New Roman" panose="02020603050405020304" pitchFamily="18" charset="0"/>
                <a:cs typeface="Times New Roman" pitchFamily="18" charset="0"/>
              </a:rPr>
              <a:t>		     </a:t>
            </a:r>
            <a:r>
              <a:rPr lang="en-US" altLang="en-US" sz="1600" dirty="0" err="1">
                <a:latin typeface="Times New Roman" panose="02020603050405020304" pitchFamily="18" charset="0"/>
                <a:cs typeface="Times New Roman" pitchFamily="18" charset="0"/>
              </a:rPr>
              <a:t>Yaragani</a:t>
            </a:r>
            <a:r>
              <a:rPr lang="en-US" altLang="en-US" sz="1600" dirty="0">
                <a:latin typeface="Times New Roman" panose="02020603050405020304" pitchFamily="18" charset="0"/>
                <a:cs typeface="Times New Roman" pitchFamily="18" charset="0"/>
              </a:rPr>
              <a:t> Hemanth Raja                  </a:t>
            </a:r>
            <a:r>
              <a:rPr lang="en-US" altLang="en-US" sz="1600" dirty="0">
                <a:solidFill>
                  <a:schemeClr val="tx1"/>
                </a:solidFill>
                <a:latin typeface="Times New Roman" panose="02020603050405020304" pitchFamily="18" charset="0"/>
                <a:cs typeface="Times New Roman" pitchFamily="18" charset="0"/>
              </a:rPr>
              <a:t>(</a:t>
            </a:r>
            <a:r>
              <a:rPr lang="en-US" altLang="en-US" sz="1600" dirty="0">
                <a:latin typeface="Times New Roman" panose="02020603050405020304" pitchFamily="18" charset="0"/>
                <a:cs typeface="Times New Roman" pitchFamily="18" charset="0"/>
              </a:rPr>
              <a:t>22471A0567</a:t>
            </a:r>
            <a:r>
              <a:rPr lang="en-US" altLang="en-US" sz="1600" dirty="0">
                <a:solidFill>
                  <a:schemeClr val="tx1"/>
                </a:solidFill>
                <a:latin typeface="Times New Roman" panose="02020603050405020304" pitchFamily="18" charset="0"/>
                <a:cs typeface="Times New Roman" pitchFamily="18" charset="0"/>
              </a:rPr>
              <a:t>)</a:t>
            </a:r>
          </a:p>
          <a:p>
            <a:pPr algn="l"/>
            <a:endParaRPr lang="en-US" altLang="en-US" sz="1600" dirty="0">
              <a:solidFill>
                <a:schemeClr val="tx1"/>
              </a:solidFill>
              <a:latin typeface="Times New Roman" panose="02020603050405020304" pitchFamily="18" charset="0"/>
              <a:cs typeface="Times New Roman" pitchFamily="18" charset="0"/>
            </a:endParaRPr>
          </a:p>
        </p:txBody>
      </p:sp>
      <p:sp>
        <p:nvSpPr>
          <p:cNvPr id="17" name="Subtitle 2"/>
          <p:cNvSpPr txBox="1">
            <a:spLocks/>
          </p:cNvSpPr>
          <p:nvPr/>
        </p:nvSpPr>
        <p:spPr bwMode="auto">
          <a:xfrm>
            <a:off x="2897154" y="3429000"/>
            <a:ext cx="6858000" cy="2581071"/>
          </a:xfrm>
          <a:prstGeom prst="rect">
            <a:avLst/>
          </a:prstGeom>
          <a:noFill/>
          <a:ln w="9525">
            <a:noFill/>
            <a:miter lim="800000"/>
            <a:headEnd/>
            <a:tailEnd/>
          </a:ln>
        </p:spPr>
        <p:txBody>
          <a:bodyPr/>
          <a:lstStyle/>
          <a:p>
            <a:pPr algn="ctr" eaLnBrk="1" hangingPunct="1">
              <a:spcBef>
                <a:spcPct val="20000"/>
              </a:spcBef>
              <a:buFont typeface="Wingdings" pitchFamily="2" charset="2"/>
              <a:buNone/>
            </a:pPr>
            <a:r>
              <a:rPr lang="en-US" altLang="en-US" dirty="0">
                <a:solidFill>
                  <a:srgbClr val="006600"/>
                </a:solidFill>
                <a:latin typeface="Times New Roman" panose="02020603050405020304" pitchFamily="18" charset="0"/>
                <a:cs typeface="Times New Roman" pitchFamily="18" charset="0"/>
              </a:rPr>
              <a:t>Under the Guidance of,</a:t>
            </a:r>
            <a:endParaRPr lang="en-US" altLang="en-US" b="1" dirty="0">
              <a:solidFill>
                <a:srgbClr val="006600"/>
              </a:solidFill>
              <a:latin typeface="Times New Roman" pitchFamily="18" charset="0"/>
              <a:cs typeface="Times New Roman" pitchFamily="18" charset="0"/>
            </a:endParaRPr>
          </a:p>
          <a:p>
            <a:pPr algn="ctr" eaLnBrk="1" hangingPunct="1">
              <a:spcBef>
                <a:spcPct val="20000"/>
              </a:spcBef>
              <a:buFont typeface="Wingdings" pitchFamily="2" charset="2"/>
              <a:buNone/>
            </a:pPr>
            <a:endParaRPr lang="en-US" altLang="en-US" sz="900" b="1" dirty="0">
              <a:solidFill>
                <a:schemeClr val="bg1"/>
              </a:solidFill>
              <a:latin typeface="Times New Roman" pitchFamily="18" charset="0"/>
              <a:cs typeface="Times New Roman" pitchFamily="18" charset="0"/>
            </a:endParaRPr>
          </a:p>
          <a:p>
            <a:pPr algn="ctr">
              <a:spcBef>
                <a:spcPct val="20000"/>
              </a:spcBef>
            </a:pPr>
            <a:r>
              <a:rPr lang="en-US" sz="2400" b="1" kern="100" baseline="-250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Dr.S.N.Thirumala Rao </a:t>
            </a:r>
            <a:r>
              <a:rPr lang="en-US" sz="1800" b="1" kern="100" baseline="-250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M.Tech , Ph.D. ,</a:t>
            </a:r>
            <a:endParaRPr lang="en-IN" sz="1800" b="1" kern="100" baseline="-25000" dirty="0">
              <a:solidFill>
                <a:schemeClr val="tx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algn="ctr" eaLnBrk="1" hangingPunct="1">
              <a:lnSpc>
                <a:spcPct val="150000"/>
              </a:lnSpc>
              <a:spcBef>
                <a:spcPct val="20000"/>
              </a:spcBef>
              <a:buFont typeface="Wingdings" pitchFamily="2" charset="2"/>
              <a:buNone/>
            </a:pPr>
            <a:r>
              <a:rPr lang="en-US" sz="1600" b="1" kern="1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Professor ,</a:t>
            </a:r>
            <a:endParaRPr lang="en-US" altLang="en-US" sz="1600" b="1" dirty="0">
              <a:solidFill>
                <a:schemeClr val="tx1">
                  <a:lumMod val="95000"/>
                  <a:lumOff val="5000"/>
                </a:schemeClr>
              </a:solidFill>
              <a:latin typeface="Times New Roman" pitchFamily="18" charset="0"/>
              <a:cs typeface="Times New Roman" pitchFamily="18" charset="0"/>
            </a:endParaRPr>
          </a:p>
          <a:p>
            <a:pPr algn="ctr" eaLnBrk="1" hangingPunct="1">
              <a:lnSpc>
                <a:spcPct val="150000"/>
              </a:lnSpc>
              <a:spcBef>
                <a:spcPct val="20000"/>
              </a:spcBef>
              <a:buFont typeface="Wingdings" pitchFamily="2" charset="2"/>
              <a:buNone/>
            </a:pPr>
            <a:r>
              <a:rPr lang="en-US" altLang="en-US" sz="1600" dirty="0">
                <a:solidFill>
                  <a:schemeClr val="tx1">
                    <a:lumMod val="95000"/>
                    <a:lumOff val="5000"/>
                  </a:schemeClr>
                </a:solidFill>
                <a:latin typeface="Times New Roman" pitchFamily="18" charset="0"/>
                <a:cs typeface="Times New Roman" pitchFamily="18" charset="0"/>
              </a:rPr>
              <a:t>Department of Computer Science and Engineering,</a:t>
            </a:r>
          </a:p>
          <a:p>
            <a:pPr algn="ctr" eaLnBrk="1" hangingPunct="1">
              <a:lnSpc>
                <a:spcPct val="150000"/>
              </a:lnSpc>
              <a:spcBef>
                <a:spcPct val="20000"/>
              </a:spcBef>
              <a:buFont typeface="Wingdings" pitchFamily="2" charset="2"/>
              <a:buNone/>
            </a:pPr>
            <a:r>
              <a:rPr lang="en-US" altLang="en-US" sz="1600" dirty="0">
                <a:solidFill>
                  <a:schemeClr val="tx1">
                    <a:lumMod val="95000"/>
                    <a:lumOff val="5000"/>
                  </a:schemeClr>
                </a:solidFill>
                <a:latin typeface="Times New Roman" pitchFamily="18" charset="0"/>
                <a:cs typeface="Times New Roman" pitchFamily="18" charset="0"/>
              </a:rPr>
              <a:t>Narasaraopeta Engineering College (Autonomous),</a:t>
            </a:r>
          </a:p>
          <a:p>
            <a:pPr algn="ctr" eaLnBrk="1" hangingPunct="1">
              <a:lnSpc>
                <a:spcPct val="150000"/>
              </a:lnSpc>
              <a:spcBef>
                <a:spcPct val="20000"/>
              </a:spcBef>
              <a:buFont typeface="Wingdings" pitchFamily="2" charset="2"/>
              <a:buNone/>
            </a:pPr>
            <a:r>
              <a:rPr lang="en-US" altLang="en-US" sz="1600" dirty="0">
                <a:solidFill>
                  <a:schemeClr val="tx1">
                    <a:lumMod val="95000"/>
                    <a:lumOff val="5000"/>
                  </a:schemeClr>
                </a:solidFill>
                <a:latin typeface="Times New Roman" pitchFamily="18" charset="0"/>
                <a:cs typeface="Times New Roman" pitchFamily="18" charset="0"/>
              </a:rPr>
              <a:t>Narasaraopet- 522 601.</a:t>
            </a:r>
          </a:p>
        </p:txBody>
      </p:sp>
      <p:pic>
        <p:nvPicPr>
          <p:cNvPr id="9" name="Picture 8"/>
          <p:cNvPicPr>
            <a:picLocks noChangeAspect="1"/>
          </p:cNvPicPr>
          <p:nvPr/>
        </p:nvPicPr>
        <p:blipFill>
          <a:blip r:embed="rId3"/>
          <a:stretch>
            <a:fillRect/>
          </a:stretch>
        </p:blipFill>
        <p:spPr>
          <a:xfrm>
            <a:off x="0" y="90674"/>
            <a:ext cx="3762900" cy="579027"/>
          </a:xfrm>
          <a:prstGeom prst="rect">
            <a:avLst/>
          </a:prstGeom>
        </p:spPr>
      </p:pic>
    </p:spTree>
    <p:extLst>
      <p:ext uri="{BB962C8B-B14F-4D97-AF65-F5344CB8AC3E}">
        <p14:creationId xmlns:p14="http://schemas.microsoft.com/office/powerpoint/2010/main" val="2603341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73486"/>
            <a:ext cx="10173182" cy="810555"/>
          </a:xfrm>
        </p:spPr>
        <p:txBody>
          <a:bodyPr/>
          <a:lstStyle/>
          <a:p>
            <a:pPr algn="ctr"/>
            <a:r>
              <a:rPr lang="en-US" b="1">
                <a:latin typeface="Times New Roman" panose="02020603050405020304" pitchFamily="18" charset="0"/>
                <a:cs typeface="Times New Roman" panose="02020603050405020304" pitchFamily="18" charset="0"/>
              </a:rPr>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940158" y="1274193"/>
            <a:ext cx="10534917" cy="5082157"/>
          </a:xfrm>
        </p:spPr>
        <p:txBody>
          <a:bodyPr>
            <a:normAutofit lnSpcReduction="10000"/>
          </a:bodyPr>
          <a:lstStyle/>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Abstract</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Introduction</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Literature Survey </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Research Gaps</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Problem Statement </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Objectives </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Block Diagram / Flow Diagram</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Methodology </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Implementation</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Results and Analysis </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Conclusion &amp; Future Scope</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References</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Acknowledgements</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Question and Answers </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AB6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6752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a:latin typeface="Times New Roman" panose="02020603050405020304" pitchFamily="18" charset="0"/>
                <a:cs typeface="Times New Roman" panose="02020603050405020304" pitchFamily="18" charset="0"/>
              </a:rPr>
              <a:t>ABSTRACT</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AB6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a:t>
            </a:fld>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FF6D0F4-0F98-9A28-3386-CCCD30F7AD43}"/>
              </a:ext>
            </a:extLst>
          </p:cNvPr>
          <p:cNvSpPr txBox="1"/>
          <p:nvPr/>
        </p:nvSpPr>
        <p:spPr>
          <a:xfrm>
            <a:off x="1180618" y="2028616"/>
            <a:ext cx="10331322" cy="4124206"/>
          </a:xfrm>
          <a:prstGeom prst="rect">
            <a:avLst/>
          </a:prstGeom>
          <a:noFill/>
        </p:spPr>
        <p:txBody>
          <a:bodyPr wrap="square">
            <a:spAutoFit/>
          </a:bodyPr>
          <a:lstStyle/>
          <a:p>
            <a:r>
              <a:rPr lang="en-US" sz="2400" dirty="0"/>
              <a:t>Automated face mask detection is essential for public safety monitoring, particularly after recent global respiratory pandemics. This project uses the </a:t>
            </a:r>
            <a:r>
              <a:rPr lang="en-US" sz="2400" b="1" dirty="0"/>
              <a:t>Face Mask Detection Dataset</a:t>
            </a:r>
            <a:r>
              <a:rPr lang="en-US" sz="2400" dirty="0"/>
              <a:t> by Omkar Gurav, containing thousands of labeled images of masked and unmasked faces. A </a:t>
            </a:r>
            <a:r>
              <a:rPr lang="en-US" sz="2400" b="1" dirty="0"/>
              <a:t>CNN-based deep learning model</a:t>
            </a:r>
            <a:r>
              <a:rPr lang="en-US" sz="2400" dirty="0"/>
              <a:t> is developed and trained for real-time mask compliance detection. The system shows strong performance in varied lighting conditions, face angles, and real-world backgrounds.</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r>
              <a:rPr lang="en-US" sz="2400" dirty="0"/>
              <a:t>Data augmentation and transfer learning were used to enhance accuracy. Results confirm that the model is efficient and performs reliably, making it suitable for real-time deployment in smart surveillance and edge devices.</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9108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INTRODUCTION</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AB6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4</a:t>
            </a:fld>
            <a:endParaRPr lang="en-US">
              <a:latin typeface="Times New Roman" panose="02020603050405020304" pitchFamily="18" charset="0"/>
              <a:cs typeface="Times New Roman" panose="02020603050405020304" pitchFamily="18" charset="0"/>
            </a:endParaRPr>
          </a:p>
        </p:txBody>
      </p:sp>
      <p:sp>
        <p:nvSpPr>
          <p:cNvPr id="10" name="Rectangle 4">
            <a:extLst>
              <a:ext uri="{FF2B5EF4-FFF2-40B4-BE49-F238E27FC236}">
                <a16:creationId xmlns:a16="http://schemas.microsoft.com/office/drawing/2014/main" id="{53DEA328-2237-9916-3F28-C287315A93F6}"/>
              </a:ext>
            </a:extLst>
          </p:cNvPr>
          <p:cNvSpPr>
            <a:spLocks noGrp="1" noChangeArrowheads="1"/>
          </p:cNvSpPr>
          <p:nvPr>
            <p:ph idx="1"/>
          </p:nvPr>
        </p:nvSpPr>
        <p:spPr bwMode="auto">
          <a:xfrm>
            <a:off x="548005" y="1561582"/>
            <a:ext cx="11095990" cy="4465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50000"/>
              </a:lnSpc>
              <a:spcBef>
                <a:spcPct val="0"/>
              </a:spcBef>
              <a:spcAft>
                <a:spcPct val="0"/>
              </a:spcAft>
              <a:buNone/>
            </a:pPr>
            <a:r>
              <a:rPr lang="en-US" sz="2400" dirty="0"/>
              <a:t>                        Face masks help reduce the spread of airborne diseases like COVID-19, but manually monitoring mask usage in public areas is difficult. This project presents a </a:t>
            </a:r>
            <a:r>
              <a:rPr lang="en-US" sz="2400" b="1" dirty="0"/>
              <a:t>deep learning–based real-time face mask detection system</a:t>
            </a:r>
            <a:r>
              <a:rPr lang="en-US" sz="2400" dirty="0"/>
              <a:t> that automatically identifies masked and unmasked individuals from surveillance images. Using the </a:t>
            </a:r>
            <a:r>
              <a:rPr lang="en-US" sz="2400" b="1" dirty="0"/>
              <a:t>Face Mask Detection Dataset by Omkar Gurav</a:t>
            </a:r>
            <a:r>
              <a:rPr lang="en-US" sz="2400" dirty="0"/>
              <a:t>, along with preprocessing and augmentation, a </a:t>
            </a:r>
            <a:r>
              <a:rPr lang="en-US" sz="2400" b="1" dirty="0"/>
              <a:t>CNN with transfer learning</a:t>
            </a:r>
            <a:r>
              <a:rPr lang="en-US" sz="2400" dirty="0"/>
              <a:t> achieves high accuracy under varied lighting and backgrounds. The system offers a fast and efficient solution for </a:t>
            </a:r>
            <a:r>
              <a:rPr lang="en-US" sz="2400" b="1" dirty="0"/>
              <a:t>public health monitoring and smart surveillance</a:t>
            </a:r>
            <a:r>
              <a:rPr lang="en-US" sz="2400" dirty="0"/>
              <a:t>.</a:t>
            </a: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5754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665174"/>
            <a:ext cx="10173182" cy="56215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0" indent="0">
              <a:buNone/>
            </a:pPr>
            <a:endParaRPr lang="en-IN">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a:xfrm>
            <a:off x="838200" y="6356350"/>
            <a:ext cx="2743200" cy="365125"/>
          </a:xfrm>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AB6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5</a:t>
            </a:fld>
            <a:endParaRPr lang="en-US">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a16="http://schemas.microsoft.com/office/drawing/2014/main" id="{3E8CACDC-CE1B-448A-5D5F-BF4D715F95AE}"/>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atin typeface="Times New Roman" panose="02020603050405020304" pitchFamily="18" charset="0"/>
              <a:cs typeface="Times New Roman" panose="02020603050405020304" pitchFamily="18" charset="0"/>
            </a:endParaRPr>
          </a:p>
        </p:txBody>
      </p:sp>
      <p:graphicFrame>
        <p:nvGraphicFramePr>
          <p:cNvPr id="3" name="Table 3">
            <a:extLst>
              <a:ext uri="{FF2B5EF4-FFF2-40B4-BE49-F238E27FC236}">
                <a16:creationId xmlns:a16="http://schemas.microsoft.com/office/drawing/2014/main" id="{D5492C34-DF62-E3B9-3F6C-997B49ACCC8A}"/>
              </a:ext>
            </a:extLst>
          </p:cNvPr>
          <p:cNvGraphicFramePr>
            <a:graphicFrameLocks noGrp="1"/>
          </p:cNvGraphicFramePr>
          <p:nvPr>
            <p:extLst>
              <p:ext uri="{D42A27DB-BD31-4B8C-83A1-F6EECF244321}">
                <p14:modId xmlns:p14="http://schemas.microsoft.com/office/powerpoint/2010/main" val="1165055669"/>
              </p:ext>
            </p:extLst>
          </p:nvPr>
        </p:nvGraphicFramePr>
        <p:xfrm>
          <a:off x="685801" y="1375658"/>
          <a:ext cx="10668000" cy="6151928"/>
        </p:xfrm>
        <a:graphic>
          <a:graphicData uri="http://schemas.openxmlformats.org/drawingml/2006/table">
            <a:tbl>
              <a:tblPr firstRow="1" bandRow="1">
                <a:tableStyleId>{17292A2E-F333-43FB-9621-5CBBE7FDCDCB}</a:tableStyleId>
              </a:tblPr>
              <a:tblGrid>
                <a:gridCol w="670923">
                  <a:extLst>
                    <a:ext uri="{9D8B030D-6E8A-4147-A177-3AD203B41FA5}">
                      <a16:colId xmlns:a16="http://schemas.microsoft.com/office/drawing/2014/main" val="166576671"/>
                    </a:ext>
                  </a:extLst>
                </a:gridCol>
                <a:gridCol w="1902616">
                  <a:extLst>
                    <a:ext uri="{9D8B030D-6E8A-4147-A177-3AD203B41FA5}">
                      <a16:colId xmlns:a16="http://schemas.microsoft.com/office/drawing/2014/main" val="946789180"/>
                    </a:ext>
                  </a:extLst>
                </a:gridCol>
                <a:gridCol w="1585513">
                  <a:extLst>
                    <a:ext uri="{9D8B030D-6E8A-4147-A177-3AD203B41FA5}">
                      <a16:colId xmlns:a16="http://schemas.microsoft.com/office/drawing/2014/main" val="3483638722"/>
                    </a:ext>
                  </a:extLst>
                </a:gridCol>
                <a:gridCol w="1635583">
                  <a:extLst>
                    <a:ext uri="{9D8B030D-6E8A-4147-A177-3AD203B41FA5}">
                      <a16:colId xmlns:a16="http://schemas.microsoft.com/office/drawing/2014/main" val="1190061112"/>
                    </a:ext>
                  </a:extLst>
                </a:gridCol>
                <a:gridCol w="1915102">
                  <a:extLst>
                    <a:ext uri="{9D8B030D-6E8A-4147-A177-3AD203B41FA5}">
                      <a16:colId xmlns:a16="http://schemas.microsoft.com/office/drawing/2014/main" val="3469305604"/>
                    </a:ext>
                  </a:extLst>
                </a:gridCol>
                <a:gridCol w="1472995">
                  <a:extLst>
                    <a:ext uri="{9D8B030D-6E8A-4147-A177-3AD203B41FA5}">
                      <a16:colId xmlns:a16="http://schemas.microsoft.com/office/drawing/2014/main" val="3853106642"/>
                    </a:ext>
                  </a:extLst>
                </a:gridCol>
                <a:gridCol w="1485268">
                  <a:extLst>
                    <a:ext uri="{9D8B030D-6E8A-4147-A177-3AD203B41FA5}">
                      <a16:colId xmlns:a16="http://schemas.microsoft.com/office/drawing/2014/main" val="1601472594"/>
                    </a:ext>
                  </a:extLst>
                </a:gridCol>
              </a:tblGrid>
              <a:tr h="756968">
                <a:tc>
                  <a:txBody>
                    <a:bodyPr/>
                    <a:lstStyle/>
                    <a:p>
                      <a:pPr algn="ctr"/>
                      <a:r>
                        <a:rPr lang="en-US" sz="1600"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Journal</a:t>
                      </a:r>
                      <a:r>
                        <a:rPr lang="en-US" sz="1600" baseline="0" dirty="0">
                          <a:solidFill>
                            <a:schemeClr val="tx1"/>
                          </a:solidFill>
                        </a:rPr>
                        <a:t> Name &amp; Year</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Methodology Adapted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Key Findings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Gaps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7051210"/>
                  </a:ext>
                </a:extLst>
              </a:tr>
              <a:tr h="1581498">
                <a:tc>
                  <a:txBody>
                    <a:bodyPr/>
                    <a:lstStyle/>
                    <a:p>
                      <a:pPr algn="ctr"/>
                      <a:r>
                        <a:rPr lang="en-US" sz="1400">
                          <a:latin typeface="Times New Roman" panose="02020603050405020304" pitchFamily="18" charset="0"/>
                          <a:cs typeface="Times New Roman" panose="02020603050405020304" pitchFamily="18" charset="0"/>
                        </a:rPr>
                        <a:t>1</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Robust Face Recognition Using Deep Learning and Ensemble Classification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Pavani </a:t>
                      </a:r>
                      <a:r>
                        <a:rPr lang="en-US" sz="1400" dirty="0" err="1"/>
                        <a:t>Chitrapu</a:t>
                      </a:r>
                      <a:r>
                        <a:rPr lang="en-US" sz="1400" dirty="0"/>
                        <a:t>, Mahesh Kumar </a:t>
                      </a:r>
                      <a:r>
                        <a:rPr lang="en-US" sz="1400" dirty="0" err="1"/>
                        <a:t>Morampudi</a:t>
                      </a:r>
                      <a:r>
                        <a:rPr lang="en-US" sz="1400" dirty="0"/>
                        <a:t>, Hemantha Kumar Kalluri, IEEE Access, 2025</a:t>
                      </a:r>
                      <a:endParaRPr 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 IEEE Access,2025</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Preprocessing: CLAHE, Gamma Correction, MTCNN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Achieved 99.91% accuracy (CASIA3D) and 98.77% (105PinsFace); ensemble boosted performance</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dirty="0"/>
                        <a:t>Generalization issues; adaptability to unseen data; resource-limited deployment challenges</a:t>
                      </a:r>
                      <a:endParaRPr lang="en-US" sz="14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25414"/>
                  </a:ext>
                </a:extLst>
              </a:tr>
              <a:tr h="1581498">
                <a:tc>
                  <a:txBody>
                    <a:bodyPr/>
                    <a:lstStyle/>
                    <a:p>
                      <a:pPr algn="ctr"/>
                      <a:r>
                        <a:rPr lang="en-US" sz="1400" dirty="0">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A Real-Time CNN-Based Lightweight Mobile Masked Face Recognition System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latin typeface="Times New Roman" panose="02020603050405020304" pitchFamily="18" charset="0"/>
                          <a:cs typeface="Times New Roman" panose="02020603050405020304" pitchFamily="18" charset="0"/>
                        </a:rPr>
                        <a:t>Busra </a:t>
                      </a:r>
                      <a:r>
                        <a:rPr lang="en-US" sz="1400" b="0" dirty="0" err="1">
                          <a:latin typeface="Times New Roman" panose="02020603050405020304" pitchFamily="18" charset="0"/>
                          <a:cs typeface="Times New Roman" panose="02020603050405020304" pitchFamily="18" charset="0"/>
                        </a:rPr>
                        <a:t>Kocacinar</a:t>
                      </a:r>
                      <a:r>
                        <a:rPr lang="en-US" sz="1400" b="0" dirty="0">
                          <a:latin typeface="Times New Roman" panose="02020603050405020304" pitchFamily="18" charset="0"/>
                          <a:cs typeface="Times New Roman" panose="02020603050405020304" pitchFamily="18" charset="0"/>
                        </a:rPr>
                        <a:t>, Bilal Tas, Fatma </a:t>
                      </a:r>
                      <a:r>
                        <a:rPr lang="en-US" sz="1400" b="0" dirty="0" err="1">
                          <a:latin typeface="Times New Roman" panose="02020603050405020304" pitchFamily="18" charset="0"/>
                          <a:cs typeface="Times New Roman" panose="02020603050405020304" pitchFamily="18" charset="0"/>
                        </a:rPr>
                        <a:t>Patlar</a:t>
                      </a:r>
                      <a:r>
                        <a:rPr lang="en-US" sz="1400" b="0" dirty="0">
                          <a:latin typeface="Times New Roman" panose="02020603050405020304" pitchFamily="18" charset="0"/>
                          <a:cs typeface="Times New Roman" panose="02020603050405020304" pitchFamily="18" charset="0"/>
                        </a:rPr>
                        <a:t> Akbulut, Cagatay </a:t>
                      </a:r>
                      <a:r>
                        <a:rPr lang="en-US" sz="1400" b="0" dirty="0" err="1">
                          <a:latin typeface="Times New Roman" panose="02020603050405020304" pitchFamily="18" charset="0"/>
                          <a:cs typeface="Times New Roman" panose="02020603050405020304" pitchFamily="18" charset="0"/>
                        </a:rPr>
                        <a:t>Catal</a:t>
                      </a:r>
                      <a:r>
                        <a:rPr lang="en-US" sz="1400" b="0" dirty="0">
                          <a:latin typeface="Times New Roman" panose="02020603050405020304" pitchFamily="18" charset="0"/>
                          <a:cs typeface="Times New Roman" panose="02020603050405020304" pitchFamily="18" charset="0"/>
                        </a:rPr>
                        <a:t>, Deepti Mishra, IEEE Access, 2022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dirty="0">
                          <a:latin typeface="Times New Roman" panose="02020603050405020304" pitchFamily="18" charset="0"/>
                          <a:cs typeface="Times New Roman" panose="02020603050405020304" pitchFamily="18" charset="0"/>
                        </a:rPr>
                        <a:t>IEEE Access, 2022</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Preprocessing: Eye-region recognition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Built custom masked face dataset; 90.40% validation accuracy; mobile app (</a:t>
                      </a:r>
                      <a:r>
                        <a:rPr lang="en-US" sz="1400" dirty="0" err="1">
                          <a:latin typeface="Times New Roman" panose="02020603050405020304" pitchFamily="18" charset="0"/>
                          <a:cs typeface="Times New Roman" panose="02020603050405020304" pitchFamily="18" charset="0"/>
                        </a:rPr>
                        <a:t>MadFaRe</a:t>
                      </a:r>
                      <a:r>
                        <a:rPr lang="en-US" sz="1400" dirty="0">
                          <a:latin typeface="Times New Roman" panose="02020603050405020304" pitchFamily="18" charset="0"/>
                          <a:cs typeface="Times New Roman" panose="02020603050405020304" pitchFamily="18" charset="0"/>
                        </a:rPr>
                        <a:t>) for real-time detection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b="0" dirty="0">
                          <a:solidFill>
                            <a:schemeClr val="tx1">
                              <a:lumMod val="95000"/>
                              <a:lumOff val="5000"/>
                            </a:schemeClr>
                          </a:solidFill>
                          <a:latin typeface="Times New Roman" panose="02020603050405020304" pitchFamily="18" charset="0"/>
                          <a:cs typeface="Times New Roman" panose="02020603050405020304" pitchFamily="18" charset="0"/>
                        </a:rPr>
                        <a:t>Limited dataset size; lack of generalization across large populations; computing constraints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9899575"/>
                  </a:ext>
                </a:extLst>
              </a:tr>
              <a:tr h="1221910">
                <a:tc>
                  <a:txBody>
                    <a:bodyPr/>
                    <a:lstStyle/>
                    <a:p>
                      <a:pPr algn="ctr"/>
                      <a:r>
                        <a:rPr lang="en-US" sz="1400" dirty="0">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Edge Deployment Framework of </a:t>
                      </a:r>
                      <a:r>
                        <a:rPr lang="en-US" sz="1400" dirty="0" err="1"/>
                        <a:t>GuardBot</a:t>
                      </a:r>
                      <a:r>
                        <a:rPr lang="en-US" sz="1400" dirty="0"/>
                        <a:t> for Optimized Face Mask Recognition With Real-Time Inference Using Deep Learning</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sz="1400" dirty="0"/>
                        <a:t>Sumaira Manzoor et al., IEEE Access, 2022</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sz="1400" dirty="0"/>
                        <a:t>IEEE Access, 2022</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Preprocessing: MTCNN; Deployment on Jetson Xavier NX; Optimized with </a:t>
                      </a:r>
                      <a:r>
                        <a:rPr lang="en-US" sz="1400" dirty="0" err="1">
                          <a:latin typeface="Times New Roman" panose="02020603050405020304" pitchFamily="18" charset="0"/>
                          <a:cs typeface="Times New Roman" panose="02020603050405020304" pitchFamily="18" charset="0"/>
                        </a:rPr>
                        <a:t>TensorRT</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Proposed CNN achieved ~95% accuracy; real-time inference; integrated with robot for compliance checking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dirty="0">
                          <a:latin typeface="Times New Roman" panose="02020603050405020304" pitchFamily="18" charset="0"/>
                          <a:cs typeface="Times New Roman" panose="02020603050405020304" pitchFamily="18" charset="0"/>
                        </a:rPr>
                        <a:t>Limited to Jetson Xavier NX; not tested on large-scale diverse datasets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8357853"/>
                  </a:ext>
                </a:extLst>
              </a:tr>
            </a:tbl>
          </a:graphicData>
        </a:graphic>
      </p:graphicFrame>
    </p:spTree>
    <p:extLst>
      <p:ext uri="{BB962C8B-B14F-4D97-AF65-F5344CB8AC3E}">
        <p14:creationId xmlns:p14="http://schemas.microsoft.com/office/powerpoint/2010/main" val="671723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077981" y="747551"/>
            <a:ext cx="10173182" cy="56215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0" indent="0">
              <a:buNone/>
            </a:pPr>
            <a:endParaRPr lang="en-IN">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AB6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6</a:t>
            </a:fld>
            <a:endParaRPr lang="en-US">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a16="http://schemas.microsoft.com/office/drawing/2014/main" id="{3E8CACDC-CE1B-448A-5D5F-BF4D715F95AE}"/>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atin typeface="Times New Roman" panose="02020603050405020304" pitchFamily="18" charset="0"/>
              <a:cs typeface="Times New Roman" panose="02020603050405020304" pitchFamily="18" charset="0"/>
            </a:endParaRPr>
          </a:p>
        </p:txBody>
      </p:sp>
      <p:graphicFrame>
        <p:nvGraphicFramePr>
          <p:cNvPr id="3" name="Table 3">
            <a:extLst>
              <a:ext uri="{FF2B5EF4-FFF2-40B4-BE49-F238E27FC236}">
                <a16:creationId xmlns:a16="http://schemas.microsoft.com/office/drawing/2014/main" id="{D5492C34-DF62-E3B9-3F6C-997B49ACCC8A}"/>
              </a:ext>
            </a:extLst>
          </p:cNvPr>
          <p:cNvGraphicFramePr>
            <a:graphicFrameLocks noGrp="1"/>
          </p:cNvGraphicFramePr>
          <p:nvPr>
            <p:extLst>
              <p:ext uri="{D42A27DB-BD31-4B8C-83A1-F6EECF244321}">
                <p14:modId xmlns:p14="http://schemas.microsoft.com/office/powerpoint/2010/main" val="2540374013"/>
              </p:ext>
            </p:extLst>
          </p:nvPr>
        </p:nvGraphicFramePr>
        <p:xfrm>
          <a:off x="279401" y="1309705"/>
          <a:ext cx="11658599" cy="5486681"/>
        </p:xfrm>
        <a:graphic>
          <a:graphicData uri="http://schemas.openxmlformats.org/drawingml/2006/table">
            <a:tbl>
              <a:tblPr firstRow="1" bandRow="1">
                <a:tableStyleId>{17292A2E-F333-43FB-9621-5CBBE7FDCDCB}</a:tableStyleId>
              </a:tblPr>
              <a:tblGrid>
                <a:gridCol w="505180">
                  <a:extLst>
                    <a:ext uri="{9D8B030D-6E8A-4147-A177-3AD203B41FA5}">
                      <a16:colId xmlns:a16="http://schemas.microsoft.com/office/drawing/2014/main" val="166576671"/>
                    </a:ext>
                  </a:extLst>
                </a:gridCol>
                <a:gridCol w="2261254">
                  <a:extLst>
                    <a:ext uri="{9D8B030D-6E8A-4147-A177-3AD203B41FA5}">
                      <a16:colId xmlns:a16="http://schemas.microsoft.com/office/drawing/2014/main" val="946789180"/>
                    </a:ext>
                  </a:extLst>
                </a:gridCol>
                <a:gridCol w="1728005">
                  <a:extLst>
                    <a:ext uri="{9D8B030D-6E8A-4147-A177-3AD203B41FA5}">
                      <a16:colId xmlns:a16="http://schemas.microsoft.com/office/drawing/2014/main" val="3483638722"/>
                    </a:ext>
                  </a:extLst>
                </a:gridCol>
                <a:gridCol w="1800227">
                  <a:extLst>
                    <a:ext uri="{9D8B030D-6E8A-4147-A177-3AD203B41FA5}">
                      <a16:colId xmlns:a16="http://schemas.microsoft.com/office/drawing/2014/main" val="1190061112"/>
                    </a:ext>
                  </a:extLst>
                </a:gridCol>
                <a:gridCol w="1858974">
                  <a:extLst>
                    <a:ext uri="{9D8B030D-6E8A-4147-A177-3AD203B41FA5}">
                      <a16:colId xmlns:a16="http://schemas.microsoft.com/office/drawing/2014/main" val="3469305604"/>
                    </a:ext>
                  </a:extLst>
                </a:gridCol>
                <a:gridCol w="1824478">
                  <a:extLst>
                    <a:ext uri="{9D8B030D-6E8A-4147-A177-3AD203B41FA5}">
                      <a16:colId xmlns:a16="http://schemas.microsoft.com/office/drawing/2014/main" val="3853106642"/>
                    </a:ext>
                  </a:extLst>
                </a:gridCol>
                <a:gridCol w="1680481">
                  <a:extLst>
                    <a:ext uri="{9D8B030D-6E8A-4147-A177-3AD203B41FA5}">
                      <a16:colId xmlns:a16="http://schemas.microsoft.com/office/drawing/2014/main" val="1601472594"/>
                    </a:ext>
                  </a:extLst>
                </a:gridCol>
              </a:tblGrid>
              <a:tr h="507531">
                <a:tc>
                  <a:txBody>
                    <a:bodyPr/>
                    <a:lstStyle/>
                    <a:p>
                      <a:pPr algn="ctr"/>
                      <a:r>
                        <a:rPr lang="en-US" sz="1600"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Journal Name &amp;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Methodology Adapted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Key Findings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Gaps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7051210"/>
                  </a:ext>
                </a:extLst>
              </a:tr>
              <a:tr h="1202048">
                <a:tc>
                  <a:txBody>
                    <a:bodyPr/>
                    <a:lstStyle/>
                    <a:p>
                      <a:pPr algn="ctr"/>
                      <a:r>
                        <a:rPr lang="en-US" sz="1400" dirty="0">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YOLOv5-S2C2: An Improved Method of Mask Detection Based on Lightweight</a:t>
                      </a:r>
                      <a:endParaRPr lang="en-US"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err="1">
                          <a:latin typeface="Times New Roman" panose="02020603050405020304" pitchFamily="18" charset="0"/>
                          <a:cs typeface="Times New Roman" panose="02020603050405020304" pitchFamily="18" charset="0"/>
                        </a:rPr>
                        <a:t>Zongyuan</a:t>
                      </a:r>
                      <a:r>
                        <a:rPr lang="en-US" sz="1400" b="0" dirty="0">
                          <a:latin typeface="Times New Roman" panose="02020603050405020304" pitchFamily="18" charset="0"/>
                          <a:cs typeface="Times New Roman" panose="02020603050405020304" pitchFamily="18" charset="0"/>
                        </a:rPr>
                        <a:t> Xie, Hongyan Ma, Wei He, </a:t>
                      </a:r>
                      <a:r>
                        <a:rPr lang="en-US" sz="1400" b="0" dirty="0" err="1">
                          <a:latin typeface="Times New Roman" panose="02020603050405020304" pitchFamily="18" charset="0"/>
                          <a:cs typeface="Times New Roman" panose="02020603050405020304" pitchFamily="18" charset="0"/>
                        </a:rPr>
                        <a:t>Jiechuan</a:t>
                      </a:r>
                      <a:r>
                        <a:rPr lang="en-US" sz="1400" b="0" dirty="0">
                          <a:latin typeface="Times New Roman" panose="02020603050405020304" pitchFamily="18" charset="0"/>
                          <a:cs typeface="Times New Roman" panose="02020603050405020304" pitchFamily="18" charset="0"/>
                        </a:rPr>
                        <a:t> Xu, Haoyu Wen, IEEE Access, 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latin typeface="Times New Roman" panose="02020603050405020304" pitchFamily="18" charset="0"/>
                          <a:cs typeface="Times New Roman" panose="02020603050405020304" pitchFamily="18" charset="0"/>
                        </a:rPr>
                        <a:t>IEEE Access, 2024</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Preprocessing: Soft-NMS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Reduced computation by 57%, parameters by 56%, faster inference speed, high </a:t>
                      </a:r>
                      <a:r>
                        <a:rPr lang="en-US" sz="1400" dirty="0" err="1"/>
                        <a:t>mAP</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dirty="0"/>
                        <a:t>Trade-off between lightweight design and small-object detection accuracy</a:t>
                      </a:r>
                      <a:endParaRPr lang="en-US" sz="14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25414"/>
                  </a:ext>
                </a:extLst>
              </a:tr>
              <a:tr h="1015062">
                <a:tc>
                  <a:txBody>
                    <a:bodyPr/>
                    <a:lstStyle/>
                    <a:p>
                      <a:pPr algn="ctr"/>
                      <a:r>
                        <a:rPr lang="en-US" sz="1400" dirty="0">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Exploring Transformer for Face Mask Detection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t>Yonghua Mao, Yuhang </a:t>
                      </a:r>
                      <a:r>
                        <a:rPr lang="en-IN" sz="1400" dirty="0" err="1"/>
                        <a:t>Lv</a:t>
                      </a:r>
                      <a:r>
                        <a:rPr lang="en-IN" sz="1400" dirty="0"/>
                        <a:t>, </a:t>
                      </a:r>
                      <a:r>
                        <a:rPr lang="en-IN" sz="1400" dirty="0" err="1"/>
                        <a:t>Guangxin</a:t>
                      </a:r>
                      <a:r>
                        <a:rPr lang="en-IN" sz="1400" dirty="0"/>
                        <a:t> Zhang, Xiaolin Gui, IEEE Access, 2024</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t>IEEE Access, 2024</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Transformer-based architecture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Outperformed CNNs across accuracy, precision, recall, F1, MCC; best detection results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dirty="0">
                          <a:latin typeface="Times New Roman" panose="02020603050405020304" pitchFamily="18" charset="0"/>
                          <a:cs typeface="Times New Roman" panose="02020603050405020304" pitchFamily="18" charset="0"/>
                        </a:rPr>
                        <a:t>Needs larger diverse datasets; higher robustness in real-world settings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8357853"/>
                  </a:ext>
                </a:extLst>
              </a:tr>
              <a:tr h="1389033">
                <a:tc>
                  <a:txBody>
                    <a:bodyPr/>
                    <a:lstStyle/>
                    <a:p>
                      <a:pPr algn="ctr"/>
                      <a:r>
                        <a:rPr lang="en-US" sz="1400" dirty="0">
                          <a:latin typeface="Times New Roman" panose="02020603050405020304" pitchFamily="18" charset="0"/>
                          <a:cs typeface="Times New Roman" panose="02020603050405020304" pitchFamily="18"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Enhanced IoT-Based Face Mask Detection Framework Using Optimized Deep Learning Models: A Hybrid Approach With Adaptive Algorithms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t>Parul Dubey, Pushkar Dubey, Celestine </a:t>
                      </a:r>
                      <a:r>
                        <a:rPr lang="en-IN" sz="1400" dirty="0" err="1"/>
                        <a:t>Iwendi</a:t>
                      </a:r>
                      <a:r>
                        <a:rPr lang="en-IN" sz="1400" dirty="0"/>
                        <a:t>, </a:t>
                      </a:r>
                      <a:r>
                        <a:rPr lang="en-IN" sz="1400" dirty="0" err="1"/>
                        <a:t>Cresantus</a:t>
                      </a:r>
                      <a:r>
                        <a:rPr lang="en-IN" sz="1400" dirty="0"/>
                        <a:t> N. </a:t>
                      </a:r>
                      <a:r>
                        <a:rPr lang="en-IN" sz="1400" dirty="0" err="1"/>
                        <a:t>Biamba</a:t>
                      </a:r>
                      <a:r>
                        <a:rPr lang="en-IN" sz="1400" dirty="0"/>
                        <a:t>, Deepak Dasaratha Rao, IEEE Access, 2025</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t>IEEE Access, 2025</a:t>
                      </a:r>
                      <a:endParaRPr 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IoT-based acquisition; Preprocessing (noise reduction, normalization)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Achieved up to 97.5% accuracy; robust on IoT devices; outperformed prior models across 3 datasets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dirty="0">
                          <a:latin typeface="Times New Roman" panose="02020603050405020304" pitchFamily="18" charset="0"/>
                          <a:cs typeface="Times New Roman" panose="02020603050405020304" pitchFamily="18" charset="0"/>
                        </a:rPr>
                        <a:t>Performance drops in occlusion and low-quality video feeds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3099921"/>
                  </a:ext>
                </a:extLst>
              </a:tr>
              <a:tr h="628188">
                <a:tc>
                  <a:txBody>
                    <a:bodyPr/>
                    <a:lstStyle/>
                    <a:p>
                      <a:pPr algn="ctr"/>
                      <a:r>
                        <a:rPr lang="en-US" sz="1400" dirty="0">
                          <a:latin typeface="Times New Roman" panose="02020603050405020304" pitchFamily="18" charset="0"/>
                          <a:cs typeface="Times New Roman" panose="02020603050405020304" pitchFamily="18"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Masked Face Recognition With Generated Occluded Part Using Image Augmentation and CNN Maintaining Face Identity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Susanta Malakar, </a:t>
                      </a:r>
                      <a:r>
                        <a:rPr lang="en-US" sz="1400" dirty="0" err="1">
                          <a:latin typeface="Times New Roman" panose="02020603050405020304" pitchFamily="18" charset="0"/>
                          <a:cs typeface="Times New Roman" panose="02020603050405020304" pitchFamily="18" charset="0"/>
                        </a:rPr>
                        <a:t>Werapon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Chiracharit</a:t>
                      </a:r>
                      <a:r>
                        <a:rPr lang="en-US" sz="1400" dirty="0">
                          <a:latin typeface="Times New Roman" panose="02020603050405020304" pitchFamily="18" charset="0"/>
                          <a:cs typeface="Times New Roman" panose="02020603050405020304" pitchFamily="18" charset="0"/>
                        </a:rPr>
                        <a:t>, Kosin </a:t>
                      </a:r>
                      <a:r>
                        <a:rPr lang="en-US" sz="1400" dirty="0" err="1">
                          <a:latin typeface="Times New Roman" panose="02020603050405020304" pitchFamily="18" charset="0"/>
                          <a:cs typeface="Times New Roman" panose="02020603050405020304" pitchFamily="18" charset="0"/>
                        </a:rPr>
                        <a:t>Chamnongthai</a:t>
                      </a:r>
                      <a:r>
                        <a:rPr lang="en-US" sz="1400" dirty="0">
                          <a:latin typeface="Times New Roman" panose="02020603050405020304" pitchFamily="18" charset="0"/>
                          <a:cs typeface="Times New Roman" panose="02020603050405020304" pitchFamily="18" charset="0"/>
                        </a:rPr>
                        <a:t>, IEEE Access, 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dirty="0">
                          <a:latin typeface="Times New Roman" panose="02020603050405020304" pitchFamily="18" charset="0"/>
                          <a:cs typeface="Times New Roman" panose="02020603050405020304" pitchFamily="18" charset="0"/>
                        </a:rPr>
                        <a:t>IEEE Access, 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Preprocessing: Image Augmentation, SURF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Improved recognition by 4–6%; higher SSIM and FID values; preserved identity; reduced runtime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dirty="0">
                          <a:latin typeface="Times New Roman" panose="02020603050405020304" pitchFamily="18" charset="0"/>
                          <a:cs typeface="Times New Roman" panose="02020603050405020304" pitchFamily="18" charset="0"/>
                        </a:rPr>
                        <a:t>Results less photorealistic; scaling and rotation alignment challenges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19214"/>
                  </a:ext>
                </a:extLst>
              </a:tr>
            </a:tbl>
          </a:graphicData>
        </a:graphic>
      </p:graphicFrame>
    </p:spTree>
    <p:extLst>
      <p:ext uri="{BB962C8B-B14F-4D97-AF65-F5344CB8AC3E}">
        <p14:creationId xmlns:p14="http://schemas.microsoft.com/office/powerpoint/2010/main" val="938408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571018" y="381884"/>
            <a:ext cx="10173182" cy="1128009"/>
          </a:xfrm>
        </p:spPr>
        <p:txBody>
          <a:bodyPr>
            <a:normAutofit/>
          </a:bodyPr>
          <a:lstStyle/>
          <a:p>
            <a:pPr algn="ctr"/>
            <a:r>
              <a:rPr lang="en-US" b="1" dirty="0">
                <a:latin typeface="Times New Roman" panose="02020603050405020304" pitchFamily="18" charset="0"/>
                <a:cs typeface="Times New Roman" panose="02020603050405020304" pitchFamily="18" charset="0"/>
              </a:rPr>
              <a:t>RESEARCH GAPS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AB6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7</a:t>
            </a:fld>
            <a:endParaRPr lang="en-US">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BE2094F6-6B6B-D2FF-81FA-54C2FE5D704D}"/>
              </a:ext>
            </a:extLst>
          </p:cNvPr>
          <p:cNvSpPr>
            <a:spLocks noGrp="1" noChangeArrowheads="1"/>
          </p:cNvSpPr>
          <p:nvPr>
            <p:ph idx="1"/>
          </p:nvPr>
        </p:nvSpPr>
        <p:spPr bwMode="auto">
          <a:xfrm>
            <a:off x="571018" y="1860097"/>
            <a:ext cx="10782783" cy="3980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t>Lack of real-time automated monitoring:</a:t>
            </a:r>
            <a:br>
              <a:rPr lang="en-US" sz="2000" dirty="0"/>
            </a:br>
            <a:r>
              <a:rPr lang="en-US" sz="2000" dirty="0"/>
              <a:t>Most existing systems rely on manual inspection, which is slow and inefficient. Our approach provides an automated real-time deep learning framework for mask detection using surveillance inputs.</a:t>
            </a:r>
          </a:p>
          <a:p>
            <a:r>
              <a:rPr lang="en-US" sz="2000" b="1" dirty="0"/>
              <a:t>High computational complexity in existing models:</a:t>
            </a:r>
            <a:br>
              <a:rPr lang="en-US" sz="2000" dirty="0"/>
            </a:br>
            <a:r>
              <a:rPr lang="en-US" sz="2000" dirty="0"/>
              <a:t>Many deep learning models require heavy computation and are not suitable for deployment on real-time surveillance systems. The use of </a:t>
            </a:r>
            <a:r>
              <a:rPr lang="en-US" sz="2000" b="1" dirty="0"/>
              <a:t>lightweight CNN architecture with transfer learning</a:t>
            </a:r>
            <a:r>
              <a:rPr lang="en-US" sz="2000" dirty="0"/>
              <a:t> in our model ensures high accuracy with low processing time.</a:t>
            </a:r>
          </a:p>
          <a:p>
            <a:r>
              <a:rPr lang="en-US" sz="2000" b="1" dirty="0"/>
              <a:t>Limited performance under real-world conditions:</a:t>
            </a:r>
            <a:br>
              <a:rPr lang="en-US" sz="2000" dirty="0"/>
            </a:br>
            <a:r>
              <a:rPr lang="en-US" sz="2000" dirty="0"/>
              <a:t>Several models fail to generalize under varying lighting, backgrounds, and face orientations. By applying </a:t>
            </a:r>
            <a:r>
              <a:rPr lang="en-US" sz="2000" b="1" dirty="0"/>
              <a:t>data augmentation and preprocessing techniques</a:t>
            </a:r>
            <a:r>
              <a:rPr lang="en-US" sz="2000" dirty="0"/>
              <a:t>, our system improves robustness in diverse real-world environments.</a:t>
            </a:r>
          </a:p>
          <a:p>
            <a:pPr marL="0" lvl="0" indent="0" eaLnBrk="0" fontAlgn="base" hangingPunct="0">
              <a:lnSpc>
                <a:spcPct val="100000"/>
              </a:lnSpc>
              <a:spcBef>
                <a:spcPct val="0"/>
              </a:spcBef>
              <a:spcAft>
                <a:spcPct val="0"/>
              </a:spcAft>
              <a:buFontTx/>
              <a:buChar char="•"/>
            </a:pP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3168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a:latin typeface="Times New Roman" panose="02020603050405020304" pitchFamily="18" charset="0"/>
                <a:cs typeface="Times New Roman" panose="02020603050405020304" pitchFamily="18" charset="0"/>
              </a:rPr>
              <a:t>PROBLEM STATEMENT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152144"/>
            <a:ext cx="10515600" cy="4775456"/>
          </a:xfrm>
        </p:spPr>
        <p:txBody>
          <a:bodyPr>
            <a:normAutofit/>
          </a:bodyPr>
          <a:lstStyle/>
          <a:p>
            <a:pPr marL="0" indent="0">
              <a:lnSpc>
                <a:spcPct val="150000"/>
              </a:lnSpc>
              <a:buNone/>
            </a:pPr>
            <a:r>
              <a:rPr lang="en-US" sz="2000" dirty="0"/>
              <a:t>                     Accurately identifying whether individuals are wearing face masks in public environments is challenging due to variations in lighting, backgrounds, face orientations, and occlusions. Manual monitoring is inefficient and impractical for large crowds. This project proposes a </a:t>
            </a:r>
            <a:r>
              <a:rPr lang="en-US" sz="2000" b="1" dirty="0"/>
              <a:t>deep learning–based real-time face mask detection system</a:t>
            </a:r>
            <a:r>
              <a:rPr lang="en-US" sz="2000" dirty="0"/>
              <a:t> using CNN and transfer learning for automated and reliable mask compliance monitoring.</a:t>
            </a:r>
          </a:p>
          <a:p>
            <a:pPr marL="0" indent="0">
              <a:lnSpc>
                <a:spcPct val="150000"/>
              </a:lnSpc>
              <a:buNone/>
            </a:pPr>
            <a:r>
              <a:rPr lang="en-US" sz="2000" dirty="0"/>
              <a:t>Key challenges:</a:t>
            </a:r>
          </a:p>
          <a:p>
            <a:pPr>
              <a:lnSpc>
                <a:spcPct val="150000"/>
              </a:lnSpc>
            </a:pPr>
            <a:r>
              <a:rPr lang="en-US" sz="2000" dirty="0"/>
              <a:t>Variations in lighting, background, and face angles</a:t>
            </a:r>
          </a:p>
          <a:p>
            <a:pPr>
              <a:lnSpc>
                <a:spcPct val="150000"/>
              </a:lnSpc>
            </a:pPr>
            <a:r>
              <a:rPr lang="en-IN" sz="2000" dirty="0"/>
              <a:t>Multiple faces and partial occlusions</a:t>
            </a:r>
          </a:p>
          <a:p>
            <a:pPr>
              <a:lnSpc>
                <a:spcPct val="150000"/>
              </a:lnSpc>
            </a:pPr>
            <a:r>
              <a:rPr lang="en-US" sz="2000" dirty="0"/>
              <a:t>Need for lightweight and real-time deployment</a:t>
            </a:r>
          </a:p>
          <a:p>
            <a:pPr marL="0" indent="0">
              <a:lnSpc>
                <a:spcPct val="150000"/>
              </a:lnSpc>
              <a:buNone/>
            </a:pPr>
            <a:endParaRPr lang="en-US" sz="2000" dirty="0"/>
          </a:p>
          <a:p>
            <a:pPr marL="0" indent="0">
              <a:lnSpc>
                <a:spcPct val="150000"/>
              </a:lnSpc>
              <a:buNone/>
            </a:pPr>
            <a:endParaRPr lang="en-US" sz="2000" dirty="0"/>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AB6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8</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9738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OBJECTIVES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AB6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9</a:t>
            </a:fld>
            <a:endParaRPr lang="en-US">
              <a:latin typeface="Times New Roman" panose="02020603050405020304" pitchFamily="18" charset="0"/>
              <a:cs typeface="Times New Roman" panose="02020603050405020304" pitchFamily="18" charset="0"/>
            </a:endParaRPr>
          </a:p>
        </p:txBody>
      </p:sp>
      <p:sp>
        <p:nvSpPr>
          <p:cNvPr id="9" name="Rectangle 2">
            <a:extLst>
              <a:ext uri="{FF2B5EF4-FFF2-40B4-BE49-F238E27FC236}">
                <a16:creationId xmlns:a16="http://schemas.microsoft.com/office/drawing/2014/main" id="{7F97274D-A7AB-0AF5-845E-E2DFA430DCD6}"/>
              </a:ext>
            </a:extLst>
          </p:cNvPr>
          <p:cNvSpPr>
            <a:spLocks noGrp="1" noChangeArrowheads="1"/>
          </p:cNvSpPr>
          <p:nvPr>
            <p:ph idx="1"/>
          </p:nvPr>
        </p:nvSpPr>
        <p:spPr bwMode="auto">
          <a:xfrm>
            <a:off x="737937" y="2331377"/>
            <a:ext cx="10716126" cy="281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50000"/>
              </a:lnSpc>
              <a:spcBef>
                <a:spcPct val="0"/>
              </a:spcBef>
              <a:spcAft>
                <a:spcPct val="0"/>
              </a:spcAft>
              <a:buFontTx/>
              <a:buChar char="•"/>
            </a:pPr>
            <a:r>
              <a:rPr lang="en-US" sz="2000" b="1" dirty="0"/>
              <a:t>To develop a deep learning–based framework</a:t>
            </a:r>
            <a:r>
              <a:rPr lang="en-US" sz="2000" dirty="0"/>
              <a:t> that integrates preprocessing, augmentation, and CNN-based classification for accurate real-time face mask detection.</a:t>
            </a:r>
          </a:p>
          <a:p>
            <a:pPr marL="0" lvl="0" indent="0" algn="just" eaLnBrk="0" fontAlgn="base" hangingPunct="0">
              <a:lnSpc>
                <a:spcPct val="150000"/>
              </a:lnSpc>
              <a:spcBef>
                <a:spcPct val="0"/>
              </a:spcBef>
              <a:spcAft>
                <a:spcPct val="0"/>
              </a:spcAft>
              <a:buFontTx/>
              <a:buChar char="•"/>
            </a:pPr>
            <a:r>
              <a:rPr lang="en-US" sz="2000" b="1" dirty="0"/>
              <a:t>To enhance detection performance</a:t>
            </a:r>
            <a:r>
              <a:rPr lang="en-US" sz="2000" dirty="0"/>
              <a:t> under varied lighting, background, and face orientation conditions using data augmentation and transfer learning techniques</a:t>
            </a:r>
          </a:p>
          <a:p>
            <a:pPr marL="0" lvl="0" indent="0" algn="just" eaLnBrk="0" fontAlgn="base" hangingPunct="0">
              <a:lnSpc>
                <a:spcPct val="150000"/>
              </a:lnSpc>
              <a:spcBef>
                <a:spcPct val="0"/>
              </a:spcBef>
              <a:spcAft>
                <a:spcPct val="0"/>
              </a:spcAft>
              <a:buFontTx/>
              <a:buChar char="•"/>
            </a:pPr>
            <a:r>
              <a:rPr lang="en-US" sz="2000" b="1" dirty="0"/>
              <a:t>To design a lightweight and efficient model</a:t>
            </a:r>
            <a:r>
              <a:rPr lang="en-US" sz="2000" dirty="0"/>
              <a:t> suitable for deployment on smart surveillance and edge devices, supporting real-time public health monitoring.</a:t>
            </a: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123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2774391" y="578754"/>
            <a:ext cx="7489282" cy="605258"/>
          </a:xfrm>
        </p:spPr>
        <p:txBody>
          <a:bodyPr>
            <a:normAutofit/>
          </a:bodyPr>
          <a:lstStyle/>
          <a:p>
            <a:pPr algn="ctr"/>
            <a:r>
              <a:rPr lang="en-US" sz="2800" b="1" dirty="0">
                <a:latin typeface="Times New Roman" panose="02020603050405020304" pitchFamily="18" charset="0"/>
                <a:cs typeface="Times New Roman" panose="02020603050405020304" pitchFamily="18" charset="0"/>
              </a:rPr>
              <a:t>BLOCK DIAGRAM OR FLOW DIAGRAM</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AB6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10</a:t>
            </a:fld>
            <a:endParaRPr lang="en-US">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77EA167-115D-BE5D-B47C-F0551A420FD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54630" y="1552574"/>
            <a:ext cx="6682740" cy="4803775"/>
          </a:xfrm>
          <a:prstGeom prst="rect">
            <a:avLst/>
          </a:prstGeom>
          <a:noFill/>
          <a:ln>
            <a:noFill/>
          </a:ln>
        </p:spPr>
      </p:pic>
    </p:spTree>
    <p:extLst>
      <p:ext uri="{BB962C8B-B14F-4D97-AF65-F5344CB8AC3E}">
        <p14:creationId xmlns:p14="http://schemas.microsoft.com/office/powerpoint/2010/main" val="2137029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a:latin typeface="Times New Roman" panose="02020603050405020304" pitchFamily="18" charset="0"/>
                <a:cs typeface="Times New Roman" panose="02020603050405020304" pitchFamily="18" charset="0"/>
              </a:rPr>
              <a:t>METHODOLOGY</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AB6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11</a:t>
            </a:fld>
            <a:endParaRPr lang="en-US">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E11839D7-C322-78C3-230F-3B6D4C28B0D0}"/>
              </a:ext>
            </a:extLst>
          </p:cNvPr>
          <p:cNvSpPr>
            <a:spLocks noGrp="1" noChangeArrowheads="1"/>
          </p:cNvSpPr>
          <p:nvPr>
            <p:ph idx="1"/>
          </p:nvPr>
        </p:nvSpPr>
        <p:spPr bwMode="auto">
          <a:xfrm>
            <a:off x="1173678" y="1933940"/>
            <a:ext cx="9844644" cy="3981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IN" sz="2400" b="1" dirty="0"/>
              <a:t>Data Collection:</a:t>
            </a:r>
          </a:p>
          <a:p>
            <a:pPr marL="0" indent="0">
              <a:buNone/>
            </a:pPr>
            <a:r>
              <a:rPr lang="en-US" sz="2400" b="1" dirty="0"/>
              <a:t>Face Mask Detection Dataset</a:t>
            </a:r>
            <a:r>
              <a:rPr lang="en-US" sz="2400" dirty="0"/>
              <a:t> collected from </a:t>
            </a:r>
            <a:r>
              <a:rPr lang="en-US" sz="2400" b="1" dirty="0"/>
              <a:t>Kaggle</a:t>
            </a:r>
          </a:p>
          <a:p>
            <a:pPr marL="0" indent="0">
              <a:buNone/>
            </a:pPr>
            <a:r>
              <a:rPr lang="en-IN" sz="2400" dirty="0"/>
              <a:t>Link of dataset: https://www.kaggle.com/datasets/omkargurav/face-mask-dataset</a:t>
            </a:r>
          </a:p>
          <a:p>
            <a:pPr marL="0" indent="0">
              <a:buNone/>
            </a:pPr>
            <a:r>
              <a:rPr lang="en-IN" sz="2400" b="1" dirty="0"/>
              <a:t>Preprocessing Steps:</a:t>
            </a:r>
            <a:endParaRPr lang="en-IN" sz="2400" dirty="0"/>
          </a:p>
          <a:p>
            <a:r>
              <a:rPr lang="en-IN" sz="2400" dirty="0"/>
              <a:t>Resize to 224×224</a:t>
            </a:r>
          </a:p>
          <a:p>
            <a:r>
              <a:rPr lang="en-IN" sz="2400" b="1" dirty="0"/>
              <a:t>Normalization</a:t>
            </a:r>
            <a:r>
              <a:rPr lang="en-IN" sz="2400" dirty="0"/>
              <a:t> (pixel scaling 0–1)</a:t>
            </a:r>
          </a:p>
          <a:p>
            <a:r>
              <a:rPr lang="en-US" sz="2400" b="1" dirty="0"/>
              <a:t>Data Augmentation</a:t>
            </a:r>
            <a:r>
              <a:rPr lang="en-US" sz="2400" dirty="0"/>
              <a:t>: rotation, zoom, flip, brightness adjustment</a:t>
            </a:r>
          </a:p>
          <a:p>
            <a:r>
              <a:rPr lang="en-US" sz="2400" b="1" dirty="0"/>
              <a:t>Image cleaning</a:t>
            </a:r>
            <a:r>
              <a:rPr lang="en-US" sz="2400" dirty="0"/>
              <a:t> to remove noise and improve quality</a:t>
            </a:r>
          </a:p>
        </p:txBody>
      </p:sp>
    </p:spTree>
    <p:extLst>
      <p:ext uri="{BB962C8B-B14F-4D97-AF65-F5344CB8AC3E}">
        <p14:creationId xmlns:p14="http://schemas.microsoft.com/office/powerpoint/2010/main" val="1488576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AB6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12</a:t>
            </a:fld>
            <a:endParaRPr lang="en-US">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E11839D7-C322-78C3-230F-3B6D4C28B0D0}"/>
              </a:ext>
            </a:extLst>
          </p:cNvPr>
          <p:cNvSpPr>
            <a:spLocks noGrp="1" noChangeArrowheads="1"/>
          </p:cNvSpPr>
          <p:nvPr>
            <p:ph idx="1"/>
          </p:nvPr>
        </p:nvSpPr>
        <p:spPr bwMode="auto">
          <a:xfrm>
            <a:off x="354002" y="1739702"/>
            <a:ext cx="843481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00000"/>
              </a:lnSpc>
              <a:spcBef>
                <a:spcPct val="0"/>
              </a:spcBef>
              <a:spcAft>
                <a:spcPct val="0"/>
              </a:spcAft>
              <a:buNone/>
            </a:pPr>
            <a:r>
              <a:rPr lang="en-US" sz="2200" dirty="0"/>
              <a:t>	</a:t>
            </a:r>
            <a:r>
              <a:rPr lang="en-US" sz="2400" dirty="0"/>
              <a:t> The proposed methodology uses a </a:t>
            </a:r>
            <a:r>
              <a:rPr lang="en-US" sz="2400" b="1" dirty="0"/>
              <a:t>deep learning framework</a:t>
            </a:r>
            <a:r>
              <a:rPr lang="en-US" sz="2400" dirty="0"/>
              <a:t> for real-time face mask detection. The </a:t>
            </a:r>
            <a:r>
              <a:rPr lang="en-US" sz="2400" b="1" dirty="0"/>
              <a:t>Face Mask Detection Dataset by Omkar Gurav</a:t>
            </a:r>
            <a:r>
              <a:rPr lang="en-US" sz="2400" dirty="0"/>
              <a:t> is preprocessed using resizing, normalization, and augmentation, then split into training, validation, and testing sets. A </a:t>
            </a:r>
            <a:r>
              <a:rPr lang="en-US" sz="2400" b="1" dirty="0"/>
              <a:t>CNN with transfer learning</a:t>
            </a:r>
            <a:r>
              <a:rPr lang="en-US" sz="2400" dirty="0"/>
              <a:t> (MobileNetV2 / Custom CNN) performs feature extraction and classification of masked and unmasked faces. The model is optimized to achieve high accuracy with low computation time and evaluated using </a:t>
            </a:r>
            <a:r>
              <a:rPr lang="en-US" sz="2400" b="1" dirty="0"/>
              <a:t>accuracy, precision, recall, F1-score, and confusion matrix</a:t>
            </a:r>
            <a:r>
              <a:rPr lang="en-US" sz="2400" dirty="0"/>
              <a:t> metrics. The final trained model is deployed on </a:t>
            </a:r>
            <a:r>
              <a:rPr lang="en-US" sz="2400" b="1" dirty="0"/>
              <a:t>smart surveillance and edge devices</a:t>
            </a:r>
            <a:r>
              <a:rPr lang="en-US" sz="2400" dirty="0"/>
              <a:t> for automated public health monitoring.</a:t>
            </a:r>
            <a:endParaRPr lang="en-IN" sz="2200" dirty="0"/>
          </a:p>
        </p:txBody>
      </p:sp>
      <p:sp>
        <p:nvSpPr>
          <p:cNvPr id="12" name="TextBox 11">
            <a:extLst>
              <a:ext uri="{FF2B5EF4-FFF2-40B4-BE49-F238E27FC236}">
                <a16:creationId xmlns:a16="http://schemas.microsoft.com/office/drawing/2014/main" id="{FB37DFB0-2EB0-9E18-4671-DCB4693D458D}"/>
              </a:ext>
            </a:extLst>
          </p:cNvPr>
          <p:cNvSpPr txBox="1"/>
          <p:nvPr/>
        </p:nvSpPr>
        <p:spPr>
          <a:xfrm>
            <a:off x="2298691" y="862890"/>
            <a:ext cx="5637245"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METHODOLOGY</a:t>
            </a:r>
            <a:endParaRPr lang="en-IN" sz="3600" dirty="0"/>
          </a:p>
        </p:txBody>
      </p:sp>
      <p:pic>
        <p:nvPicPr>
          <p:cNvPr id="9" name="Picture 8">
            <a:extLst>
              <a:ext uri="{FF2B5EF4-FFF2-40B4-BE49-F238E27FC236}">
                <a16:creationId xmlns:a16="http://schemas.microsoft.com/office/drawing/2014/main" id="{B2CD8B34-D304-26E9-EF47-2ED50F1BCC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67034" y="1196689"/>
            <a:ext cx="2743200" cy="5170294"/>
          </a:xfrm>
          <a:prstGeom prst="rect">
            <a:avLst/>
          </a:prstGeom>
        </p:spPr>
      </p:pic>
    </p:spTree>
    <p:extLst>
      <p:ext uri="{BB962C8B-B14F-4D97-AF65-F5344CB8AC3E}">
        <p14:creationId xmlns:p14="http://schemas.microsoft.com/office/powerpoint/2010/main" val="294459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2667000" y="1380787"/>
            <a:ext cx="6858000" cy="745866"/>
          </a:xfrm>
        </p:spPr>
        <p:txBody>
          <a:bodyPr/>
          <a:lstStyle/>
          <a:p>
            <a:pPr algn="ctr"/>
            <a:r>
              <a:rPr lang="en-US" b="1" dirty="0">
                <a:latin typeface="Times New Roman" panose="02020603050405020304" pitchFamily="18" charset="0"/>
                <a:cs typeface="Times New Roman" panose="02020603050405020304" pitchFamily="18" charset="0"/>
              </a:rPr>
              <a:t>METHODOLOGY</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AB6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13</a:t>
            </a:fld>
            <a:endParaRPr lang="en-US">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E11839D7-C322-78C3-230F-3B6D4C28B0D0}"/>
              </a:ext>
            </a:extLst>
          </p:cNvPr>
          <p:cNvSpPr>
            <a:spLocks noGrp="1" noChangeArrowheads="1"/>
          </p:cNvSpPr>
          <p:nvPr>
            <p:ph idx="1"/>
          </p:nvPr>
        </p:nvSpPr>
        <p:spPr bwMode="auto">
          <a:xfrm>
            <a:off x="590309" y="3225839"/>
            <a:ext cx="1089177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lang="en-US" altLang="en-US" sz="180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9" name="Picture 8" descr="NIST Launches Studies into Masks' Effect on Face Recognition Software | NIST">
            <a:extLst>
              <a:ext uri="{FF2B5EF4-FFF2-40B4-BE49-F238E27FC236}">
                <a16:creationId xmlns:a16="http://schemas.microsoft.com/office/drawing/2014/main" id="{8ECEB75E-3200-DB0B-83E4-28CDB810748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44953" y="2113978"/>
            <a:ext cx="6681470" cy="4415790"/>
          </a:xfrm>
          <a:prstGeom prst="rect">
            <a:avLst/>
          </a:prstGeom>
          <a:noFill/>
          <a:ln>
            <a:noFill/>
          </a:ln>
        </p:spPr>
      </p:pic>
    </p:spTree>
    <p:extLst>
      <p:ext uri="{BB962C8B-B14F-4D97-AF65-F5344CB8AC3E}">
        <p14:creationId xmlns:p14="http://schemas.microsoft.com/office/powerpoint/2010/main" val="509708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ctrTitle"/>
          </p:nvPr>
        </p:nvSpPr>
        <p:spPr>
          <a:xfrm>
            <a:off x="1242990" y="1041545"/>
            <a:ext cx="9144000" cy="579026"/>
          </a:xfrm>
        </p:spPr>
        <p:txBody>
          <a:bodyPr>
            <a:noAutofit/>
          </a:bodyPr>
          <a:lstStyle/>
          <a:p>
            <a:r>
              <a:rPr lang="en-US" sz="4400" b="1" dirty="0">
                <a:latin typeface="Times New Roman" panose="02020603050405020304" pitchFamily="18" charset="0"/>
                <a:cs typeface="Times New Roman" panose="02020603050405020304" pitchFamily="18" charset="0"/>
              </a:rPr>
              <a:t>METHODOLOGY</a:t>
            </a:r>
            <a:endParaRPr lang="en-IN" sz="4400" b="1" dirty="0">
              <a:latin typeface="Times New Roman" panose="02020603050405020304" pitchFamily="18" charset="0"/>
              <a:cs typeface="Times New Roman" panose="02020603050405020304" pitchFamily="18" charset="0"/>
            </a:endParaRPr>
          </a:p>
        </p:txBody>
      </p:sp>
      <p:sp>
        <p:nvSpPr>
          <p:cNvPr id="11" name="Subtitle 10"/>
          <p:cNvSpPr>
            <a:spLocks noGrp="1"/>
          </p:cNvSpPr>
          <p:nvPr>
            <p:ph type="subTitle" idx="1"/>
          </p:nvPr>
        </p:nvSpPr>
        <p:spPr>
          <a:xfrm>
            <a:off x="1900052" y="2125683"/>
            <a:ext cx="7862413" cy="4025735"/>
          </a:xfrm>
        </p:spPr>
        <p:txBody>
          <a:bodyPr>
            <a:normAutofit lnSpcReduction="10000"/>
          </a:bodyPr>
          <a:lstStyle/>
          <a:p>
            <a:pPr lvl="0" algn="just" eaLnBrk="0" fontAlgn="base" hangingPunct="0">
              <a:lnSpc>
                <a:spcPct val="150000"/>
              </a:lnSpc>
              <a:spcBef>
                <a:spcPct val="0"/>
              </a:spcBef>
              <a:spcAft>
                <a:spcPct val="0"/>
              </a:spcAft>
            </a:pPr>
            <a:r>
              <a:rPr lang="en-US" sz="2000" b="1" dirty="0"/>
              <a:t>Why MobileNetV2 Framework is Used:</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sz="2000" dirty="0"/>
              <a:t>High accuracy with low computational cost</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sz="2000" dirty="0"/>
              <a:t>Lightweight architecture suitable for real-time surveillance</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sz="2000" dirty="0"/>
              <a:t>Efficient feature extraction using transfer learning</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sz="2000" dirty="0"/>
              <a:t>Fast inference speed ideal for edge device deployment</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sz="2000" dirty="0"/>
              <a:t>Good generalization across lighting, backgrounds, and face orientations</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sz="2000" dirty="0"/>
              <a:t>Requires fewer training resources while maintaining strong performance</a:t>
            </a:r>
            <a:endParaRPr lang="en-US" altLang="en-US" sz="2200" b="1" dirty="0">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a:blip r:embed="rId2"/>
          <a:stretch>
            <a:fillRect/>
          </a:stretch>
        </p:blipFill>
        <p:spPr>
          <a:xfrm>
            <a:off x="0" y="63780"/>
            <a:ext cx="3762900" cy="579027"/>
          </a:xfrm>
          <a:prstGeom prst="rect">
            <a:avLst/>
          </a:prstGeom>
        </p:spPr>
      </p:pic>
    </p:spTree>
    <p:extLst>
      <p:ext uri="{BB962C8B-B14F-4D97-AF65-F5344CB8AC3E}">
        <p14:creationId xmlns:p14="http://schemas.microsoft.com/office/powerpoint/2010/main" val="778118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8706"/>
          </a:xfrm>
        </p:spPr>
        <p:txBody>
          <a:bodyPr>
            <a:normAutofit/>
          </a:bodyPr>
          <a:lstStyle/>
          <a:p>
            <a:pPr algn="ctr"/>
            <a:r>
              <a:rPr lang="en-US" b="1" dirty="0">
                <a:latin typeface="Times New Roman" panose="02020603050405020304" pitchFamily="18" charset="0"/>
                <a:cs typeface="Times New Roman" panose="02020603050405020304" pitchFamily="18" charset="0"/>
              </a:rPr>
              <a:t>Implementation</a:t>
            </a:r>
            <a:endParaRPr lang="en-IN"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t>10-11-2025</a:t>
            </a:r>
            <a:endParaRPr lang="en-IN" dirty="0"/>
          </a:p>
        </p:txBody>
      </p:sp>
      <p:sp>
        <p:nvSpPr>
          <p:cNvPr id="5" name="Footer Placeholder 4"/>
          <p:cNvSpPr>
            <a:spLocks noGrp="1"/>
          </p:cNvSpPr>
          <p:nvPr>
            <p:ph type="ftr" sz="quarter" idx="11"/>
          </p:nvPr>
        </p:nvSpPr>
        <p:spPr/>
        <p:txBody>
          <a:bodyPr/>
          <a:lstStyle/>
          <a:p>
            <a:r>
              <a:rPr lang="en-US"/>
              <a:t>Review No. 01         Batch No.  AB6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15</a:t>
            </a:fld>
            <a:endParaRPr lang="en-IN"/>
          </a:p>
        </p:txBody>
      </p:sp>
      <p:pic>
        <p:nvPicPr>
          <p:cNvPr id="9" name="Content Placeholder 8">
            <a:extLst>
              <a:ext uri="{FF2B5EF4-FFF2-40B4-BE49-F238E27FC236}">
                <a16:creationId xmlns:a16="http://schemas.microsoft.com/office/drawing/2014/main" id="{90616552-CC02-AC52-B3D0-8E1EE7BDA6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230894"/>
            <a:ext cx="10515600" cy="3540799"/>
          </a:xfrm>
        </p:spPr>
      </p:pic>
    </p:spTree>
    <p:extLst>
      <p:ext uri="{BB962C8B-B14F-4D97-AF65-F5344CB8AC3E}">
        <p14:creationId xmlns:p14="http://schemas.microsoft.com/office/powerpoint/2010/main" val="3365864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6E8C4-D486-1B2C-0E51-FAB85FAAB005}"/>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METHODOLOGY</a:t>
            </a:r>
            <a:endParaRPr lang="en-IN" dirty="0"/>
          </a:p>
        </p:txBody>
      </p:sp>
      <p:pic>
        <p:nvPicPr>
          <p:cNvPr id="8" name="Content Placeholder 7">
            <a:extLst>
              <a:ext uri="{FF2B5EF4-FFF2-40B4-BE49-F238E27FC236}">
                <a16:creationId xmlns:a16="http://schemas.microsoft.com/office/drawing/2014/main" id="{DED61AA3-844D-4E5C-514C-325AFBFA39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16150"/>
            <a:ext cx="10515600" cy="4284920"/>
          </a:xfrm>
        </p:spPr>
      </p:pic>
      <p:sp>
        <p:nvSpPr>
          <p:cNvPr id="4" name="Date Placeholder 3">
            <a:extLst>
              <a:ext uri="{FF2B5EF4-FFF2-40B4-BE49-F238E27FC236}">
                <a16:creationId xmlns:a16="http://schemas.microsoft.com/office/drawing/2014/main" id="{7D73C978-BB16-2265-ECE1-951C69B2AB2A}"/>
              </a:ext>
            </a:extLst>
          </p:cNvPr>
          <p:cNvSpPr>
            <a:spLocks noGrp="1"/>
          </p:cNvSpPr>
          <p:nvPr>
            <p:ph type="dt" sz="half" idx="10"/>
          </p:nvPr>
        </p:nvSpPr>
        <p:spPr/>
        <p:txBody>
          <a:bodyPr/>
          <a:lstStyle/>
          <a:p>
            <a:r>
              <a:rPr lang="en-US"/>
              <a:t>10-11-2025</a:t>
            </a:r>
            <a:endParaRPr lang="en-IN"/>
          </a:p>
        </p:txBody>
      </p:sp>
      <p:sp>
        <p:nvSpPr>
          <p:cNvPr id="5" name="Footer Placeholder 4">
            <a:extLst>
              <a:ext uri="{FF2B5EF4-FFF2-40B4-BE49-F238E27FC236}">
                <a16:creationId xmlns:a16="http://schemas.microsoft.com/office/drawing/2014/main" id="{F627347D-B1EA-5A35-4499-14D33F890E00}"/>
              </a:ext>
            </a:extLst>
          </p:cNvPr>
          <p:cNvSpPr>
            <a:spLocks noGrp="1"/>
          </p:cNvSpPr>
          <p:nvPr>
            <p:ph type="ftr" sz="quarter" idx="11"/>
          </p:nvPr>
        </p:nvSpPr>
        <p:spPr/>
        <p:txBody>
          <a:bodyPr/>
          <a:lstStyle/>
          <a:p>
            <a:r>
              <a:rPr lang="en-US"/>
              <a:t>Review No. 01         Batch No.  AB6         Department of CSE</a:t>
            </a:r>
            <a:endParaRPr lang="en-IN"/>
          </a:p>
        </p:txBody>
      </p:sp>
      <p:sp>
        <p:nvSpPr>
          <p:cNvPr id="6" name="Slide Number Placeholder 5">
            <a:extLst>
              <a:ext uri="{FF2B5EF4-FFF2-40B4-BE49-F238E27FC236}">
                <a16:creationId xmlns:a16="http://schemas.microsoft.com/office/drawing/2014/main" id="{6D5EDF9B-5AA4-27E2-B2AC-E9BD078CE97D}"/>
              </a:ext>
            </a:extLst>
          </p:cNvPr>
          <p:cNvSpPr>
            <a:spLocks noGrp="1"/>
          </p:cNvSpPr>
          <p:nvPr>
            <p:ph type="sldNum" sz="quarter" idx="12"/>
          </p:nvPr>
        </p:nvSpPr>
        <p:spPr/>
        <p:txBody>
          <a:bodyPr/>
          <a:lstStyle/>
          <a:p>
            <a:fld id="{65DCBD69-296B-4D7C-AF62-9B588FC78772}" type="slidenum">
              <a:rPr lang="en-IN" smtClean="0"/>
              <a:t>16</a:t>
            </a:fld>
            <a:endParaRPr lang="en-IN"/>
          </a:p>
        </p:txBody>
      </p:sp>
    </p:spTree>
    <p:extLst>
      <p:ext uri="{BB962C8B-B14F-4D97-AF65-F5344CB8AC3E}">
        <p14:creationId xmlns:p14="http://schemas.microsoft.com/office/powerpoint/2010/main" val="4052889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635760" y="-59612"/>
            <a:ext cx="5133392" cy="787400"/>
          </a:xfrm>
        </p:spPr>
        <p:txBody>
          <a:bodyPr>
            <a:normAutofit/>
          </a:bodyPr>
          <a:lstStyle/>
          <a:p>
            <a:r>
              <a:rPr lang="en-US" sz="3200" b="1" dirty="0">
                <a:latin typeface="Times New Roman" panose="02020603050405020304" pitchFamily="18" charset="0"/>
                <a:cs typeface="Times New Roman" panose="02020603050405020304" pitchFamily="18" charset="0"/>
              </a:rPr>
              <a:t>Challenges  Vs Overcomes</a:t>
            </a:r>
            <a:endParaRPr lang="en-IN" sz="32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t>10-11-2025</a:t>
            </a:r>
            <a:endParaRPr lang="en-IN" dirty="0"/>
          </a:p>
        </p:txBody>
      </p:sp>
      <p:sp>
        <p:nvSpPr>
          <p:cNvPr id="5" name="Footer Placeholder 4"/>
          <p:cNvSpPr>
            <a:spLocks noGrp="1"/>
          </p:cNvSpPr>
          <p:nvPr>
            <p:ph type="ftr" sz="quarter" idx="11"/>
          </p:nvPr>
        </p:nvSpPr>
        <p:spPr/>
        <p:txBody>
          <a:bodyPr/>
          <a:lstStyle/>
          <a:p>
            <a:r>
              <a:rPr lang="en-US"/>
              <a:t>Review No. 01         Batch No.  AB6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17</a:t>
            </a:fld>
            <a:endParaRPr lang="en-IN"/>
          </a:p>
        </p:txBody>
      </p:sp>
      <p:graphicFrame>
        <p:nvGraphicFramePr>
          <p:cNvPr id="8" name="Content Placeholder 7">
            <a:extLst>
              <a:ext uri="{FF2B5EF4-FFF2-40B4-BE49-F238E27FC236}">
                <a16:creationId xmlns:a16="http://schemas.microsoft.com/office/drawing/2014/main" id="{0CBF40FB-3CD8-6441-CF67-9D878BF6266E}"/>
              </a:ext>
            </a:extLst>
          </p:cNvPr>
          <p:cNvGraphicFramePr>
            <a:graphicFrameLocks noGrp="1"/>
          </p:cNvGraphicFramePr>
          <p:nvPr>
            <p:ph idx="1"/>
            <p:extLst>
              <p:ext uri="{D42A27DB-BD31-4B8C-83A1-F6EECF244321}">
                <p14:modId xmlns:p14="http://schemas.microsoft.com/office/powerpoint/2010/main" val="1846807750"/>
              </p:ext>
            </p:extLst>
          </p:nvPr>
        </p:nvGraphicFramePr>
        <p:xfrm>
          <a:off x="838200" y="1283368"/>
          <a:ext cx="10515600" cy="4821043"/>
        </p:xfrm>
        <a:graphic>
          <a:graphicData uri="http://schemas.openxmlformats.org/drawingml/2006/table">
            <a:tbl>
              <a:tblPr/>
              <a:tblGrid>
                <a:gridCol w="5257800">
                  <a:extLst>
                    <a:ext uri="{9D8B030D-6E8A-4147-A177-3AD203B41FA5}">
                      <a16:colId xmlns:a16="http://schemas.microsoft.com/office/drawing/2014/main" val="1616132173"/>
                    </a:ext>
                  </a:extLst>
                </a:gridCol>
                <a:gridCol w="5257800">
                  <a:extLst>
                    <a:ext uri="{9D8B030D-6E8A-4147-A177-3AD203B41FA5}">
                      <a16:colId xmlns:a16="http://schemas.microsoft.com/office/drawing/2014/main" val="244272055"/>
                    </a:ext>
                  </a:extLst>
                </a:gridCol>
              </a:tblGrid>
              <a:tr h="419221">
                <a:tc>
                  <a:txBody>
                    <a:bodyPr/>
                    <a:lstStyle/>
                    <a:p>
                      <a:pPr>
                        <a:buNone/>
                      </a:pPr>
                      <a:r>
                        <a:rPr lang="en-IN" b="0"/>
                        <a:t>Challenges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b="0"/>
                        <a:t>Overcomes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3868268"/>
                  </a:ext>
                </a:extLst>
              </a:tr>
              <a:tr h="733637">
                <a:tc>
                  <a:txBody>
                    <a:bodyPr/>
                    <a:lstStyle/>
                    <a:p>
                      <a:pPr>
                        <a:buNone/>
                      </a:pPr>
                      <a:r>
                        <a:rPr lang="en-US" dirty="0"/>
                        <a:t>Manual monitoring of mask compliance is slow and inefficient</a:t>
                      </a:r>
                      <a:endParaRPr lang="en-US"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dirty="0"/>
                        <a:t>Automated real-time detection using deep learning model</a:t>
                      </a:r>
                      <a:endParaRPr lang="en-US"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3961755"/>
                  </a:ext>
                </a:extLst>
              </a:tr>
              <a:tr h="733637">
                <a:tc>
                  <a:txBody>
                    <a:bodyPr/>
                    <a:lstStyle/>
                    <a:p>
                      <a:pPr>
                        <a:buNone/>
                      </a:pPr>
                      <a:r>
                        <a:rPr lang="en-US" dirty="0"/>
                        <a:t>High computational complexity in existing approaches</a:t>
                      </a:r>
                      <a:endParaRPr lang="en-US"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dirty="0"/>
                        <a:t>MobileNetV2 for fast processing and real-time deployment</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6398059"/>
                  </a:ext>
                </a:extLst>
              </a:tr>
              <a:tr h="733637">
                <a:tc>
                  <a:txBody>
                    <a:bodyPr/>
                    <a:lstStyle/>
                    <a:p>
                      <a:pPr>
                        <a:buNone/>
                      </a:pPr>
                      <a:r>
                        <a:rPr lang="en-US" dirty="0"/>
                        <a:t>Poor performance in varying lighting, background, and face orientations</a:t>
                      </a:r>
                      <a:endParaRPr lang="en-US"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dirty="0"/>
                        <a:t>Data preprocessing and augmentation techniques improve robustness</a:t>
                      </a:r>
                      <a:endParaRPr lang="en-US"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4169519"/>
                  </a:ext>
                </a:extLst>
              </a:tr>
              <a:tr h="733637">
                <a:tc>
                  <a:txBody>
                    <a:bodyPr/>
                    <a:lstStyle/>
                    <a:p>
                      <a:pPr>
                        <a:buNone/>
                      </a:pPr>
                      <a:r>
                        <a:rPr lang="en-US" dirty="0"/>
                        <a:t>Difficulty in distinguishing partially covered faces</a:t>
                      </a:r>
                      <a:endParaRPr lang="en-US"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dirty="0"/>
                        <a:t>Transfer learning enables strong feature extraction and classification</a:t>
                      </a:r>
                      <a:endParaRPr lang="en-US"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1804132"/>
                  </a:ext>
                </a:extLst>
              </a:tr>
              <a:tr h="733637">
                <a:tc>
                  <a:txBody>
                    <a:bodyPr/>
                    <a:lstStyle/>
                    <a:p>
                      <a:pPr>
                        <a:buNone/>
                      </a:pPr>
                      <a:r>
                        <a:rPr lang="en-US" dirty="0"/>
                        <a:t>Limited generalization across different environments</a:t>
                      </a:r>
                      <a:endParaRPr lang="en-US"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dirty="0"/>
                        <a:t>Dataset partitioning and validation enhance model reliability</a:t>
                      </a:r>
                      <a:endParaRPr lang="en-US"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4993729"/>
                  </a:ext>
                </a:extLst>
              </a:tr>
              <a:tr h="733637">
                <a:tc>
                  <a:txBody>
                    <a:bodyPr/>
                    <a:lstStyle/>
                    <a:p>
                      <a:pPr>
                        <a:buNone/>
                      </a:pPr>
                      <a:r>
                        <a:rPr lang="en-US" dirty="0"/>
                        <a:t>Hard to deploy on low-resource devices</a:t>
                      </a:r>
                      <a:endParaRPr lang="en-US"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dirty="0"/>
                        <a:t>Optimized model suitable for edge devices and smart surveillance</a:t>
                      </a:r>
                      <a:endParaRPr lang="en-US"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6491165"/>
                  </a:ext>
                </a:extLst>
              </a:tr>
            </a:tbl>
          </a:graphicData>
        </a:graphic>
      </p:graphicFrame>
    </p:spTree>
    <p:extLst>
      <p:ext uri="{BB962C8B-B14F-4D97-AF65-F5344CB8AC3E}">
        <p14:creationId xmlns:p14="http://schemas.microsoft.com/office/powerpoint/2010/main" val="1054249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E69651-936A-290A-1779-9373FACA1F27}"/>
              </a:ext>
            </a:extLst>
          </p:cNvPr>
          <p:cNvSpPr>
            <a:spLocks noGrp="1"/>
          </p:cNvSpPr>
          <p:nvPr>
            <p:ph type="dt" sz="half" idx="10"/>
          </p:nvPr>
        </p:nvSpPr>
        <p:spPr/>
        <p:txBody>
          <a:bodyPr/>
          <a:lstStyle/>
          <a:p>
            <a:r>
              <a:rPr lang="en-US"/>
              <a:t>10-11-2025</a:t>
            </a:r>
            <a:endParaRPr lang="en-IN"/>
          </a:p>
        </p:txBody>
      </p:sp>
      <p:sp>
        <p:nvSpPr>
          <p:cNvPr id="3" name="Footer Placeholder 2">
            <a:extLst>
              <a:ext uri="{FF2B5EF4-FFF2-40B4-BE49-F238E27FC236}">
                <a16:creationId xmlns:a16="http://schemas.microsoft.com/office/drawing/2014/main" id="{17228ED4-FDED-DAA7-FD41-5D6B002B7D39}"/>
              </a:ext>
            </a:extLst>
          </p:cNvPr>
          <p:cNvSpPr>
            <a:spLocks noGrp="1"/>
          </p:cNvSpPr>
          <p:nvPr>
            <p:ph type="ftr" sz="quarter" idx="11"/>
          </p:nvPr>
        </p:nvSpPr>
        <p:spPr/>
        <p:txBody>
          <a:bodyPr/>
          <a:lstStyle/>
          <a:p>
            <a:r>
              <a:rPr lang="en-US"/>
              <a:t>Review No. 01         Batch No.  AB6         Department of CSE</a:t>
            </a:r>
            <a:endParaRPr lang="en-IN"/>
          </a:p>
        </p:txBody>
      </p:sp>
      <p:sp>
        <p:nvSpPr>
          <p:cNvPr id="4" name="Slide Number Placeholder 3">
            <a:extLst>
              <a:ext uri="{FF2B5EF4-FFF2-40B4-BE49-F238E27FC236}">
                <a16:creationId xmlns:a16="http://schemas.microsoft.com/office/drawing/2014/main" id="{E4C8A989-489E-4ED0-0172-DD62B5D22C5C}"/>
              </a:ext>
            </a:extLst>
          </p:cNvPr>
          <p:cNvSpPr>
            <a:spLocks noGrp="1"/>
          </p:cNvSpPr>
          <p:nvPr>
            <p:ph type="sldNum" sz="quarter" idx="12"/>
          </p:nvPr>
        </p:nvSpPr>
        <p:spPr/>
        <p:txBody>
          <a:bodyPr/>
          <a:lstStyle/>
          <a:p>
            <a:fld id="{65DCBD69-296B-4D7C-AF62-9B588FC78772}" type="slidenum">
              <a:rPr lang="en-IN" smtClean="0"/>
              <a:t>18</a:t>
            </a:fld>
            <a:endParaRPr lang="en-IN"/>
          </a:p>
        </p:txBody>
      </p:sp>
      <p:sp>
        <p:nvSpPr>
          <p:cNvPr id="8" name="TextBox 7">
            <a:extLst>
              <a:ext uri="{FF2B5EF4-FFF2-40B4-BE49-F238E27FC236}">
                <a16:creationId xmlns:a16="http://schemas.microsoft.com/office/drawing/2014/main" id="{468F7FB3-8A57-3F6D-5664-7A1CDACED8C1}"/>
              </a:ext>
            </a:extLst>
          </p:cNvPr>
          <p:cNvSpPr txBox="1"/>
          <p:nvPr/>
        </p:nvSpPr>
        <p:spPr>
          <a:xfrm>
            <a:off x="4636016" y="25527"/>
            <a:ext cx="6094070" cy="369332"/>
          </a:xfrm>
          <a:prstGeom prst="rect">
            <a:avLst/>
          </a:prstGeom>
          <a:noFill/>
        </p:spPr>
        <p:txBody>
          <a:bodyPr wrap="square">
            <a:spAutoFit/>
          </a:bodyPr>
          <a:lstStyle/>
          <a:p>
            <a:pPr marL="0" algn="l" rtl="0" eaLnBrk="1" latinLnBrk="0" hangingPunct="1">
              <a:buNone/>
            </a:pPr>
            <a:r>
              <a:rPr lang="en-US" sz="1800" b="1" kern="1200" dirty="0">
                <a:solidFill>
                  <a:srgbClr val="000000"/>
                </a:solidFill>
                <a:effectLst/>
                <a:latin typeface="Times New Roman" panose="02020603050405020304" pitchFamily="18" charset="0"/>
                <a:ea typeface="+mn-ea"/>
                <a:cs typeface="Times New Roman" panose="02020603050405020304" pitchFamily="18" charset="0"/>
              </a:rPr>
              <a:t>Implementation of Frontend</a:t>
            </a:r>
            <a:endParaRPr lang="en-IN" dirty="0">
              <a:effectLst/>
            </a:endParaRPr>
          </a:p>
        </p:txBody>
      </p:sp>
      <p:pic>
        <p:nvPicPr>
          <p:cNvPr id="9" name="Picture 8">
            <a:extLst>
              <a:ext uri="{FF2B5EF4-FFF2-40B4-BE49-F238E27FC236}">
                <a16:creationId xmlns:a16="http://schemas.microsoft.com/office/drawing/2014/main" id="{57097839-7649-0E7F-C454-6C9F691B1153}"/>
              </a:ext>
            </a:extLst>
          </p:cNvPr>
          <p:cNvPicPr>
            <a:picLocks noChangeAspect="1"/>
          </p:cNvPicPr>
          <p:nvPr/>
        </p:nvPicPr>
        <p:blipFill>
          <a:blip r:embed="rId2"/>
          <a:stretch>
            <a:fillRect/>
          </a:stretch>
        </p:blipFill>
        <p:spPr>
          <a:xfrm>
            <a:off x="0" y="63780"/>
            <a:ext cx="3762900" cy="579027"/>
          </a:xfrm>
          <a:prstGeom prst="rect">
            <a:avLst/>
          </a:prstGeom>
        </p:spPr>
      </p:pic>
      <p:pic>
        <p:nvPicPr>
          <p:cNvPr id="6" name="Picture 5">
            <a:extLst>
              <a:ext uri="{FF2B5EF4-FFF2-40B4-BE49-F238E27FC236}">
                <a16:creationId xmlns:a16="http://schemas.microsoft.com/office/drawing/2014/main" id="{DE2D3C1C-19BF-137B-A0C7-7ABCB0E56D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689" y="1132365"/>
            <a:ext cx="9784622" cy="4976037"/>
          </a:xfrm>
          <a:prstGeom prst="rect">
            <a:avLst/>
          </a:prstGeom>
        </p:spPr>
      </p:pic>
    </p:spTree>
    <p:extLst>
      <p:ext uri="{BB962C8B-B14F-4D97-AF65-F5344CB8AC3E}">
        <p14:creationId xmlns:p14="http://schemas.microsoft.com/office/powerpoint/2010/main" val="2339863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Implementation of Frontend</a:t>
            </a:r>
            <a:endParaRPr lang="en-IN" sz="40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t>10-11-2025</a:t>
            </a:r>
            <a:endParaRPr lang="en-IN" dirty="0"/>
          </a:p>
        </p:txBody>
      </p:sp>
      <p:sp>
        <p:nvSpPr>
          <p:cNvPr id="5" name="Footer Placeholder 4"/>
          <p:cNvSpPr>
            <a:spLocks noGrp="1"/>
          </p:cNvSpPr>
          <p:nvPr>
            <p:ph type="ftr" sz="quarter" idx="11"/>
          </p:nvPr>
        </p:nvSpPr>
        <p:spPr/>
        <p:txBody>
          <a:bodyPr/>
          <a:lstStyle/>
          <a:p>
            <a:r>
              <a:rPr lang="en-US"/>
              <a:t>Review No. 01         Batch No.  AB6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19</a:t>
            </a:fld>
            <a:endParaRPr lang="en-IN" dirty="0"/>
          </a:p>
        </p:txBody>
      </p:sp>
      <p:pic>
        <p:nvPicPr>
          <p:cNvPr id="10" name="Content Placeholder 9">
            <a:extLst>
              <a:ext uri="{FF2B5EF4-FFF2-40B4-BE49-F238E27FC236}">
                <a16:creationId xmlns:a16="http://schemas.microsoft.com/office/drawing/2014/main" id="{9443EC2C-8890-4BCF-4006-FCD4638435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92057" y="1446028"/>
            <a:ext cx="6677246" cy="4730935"/>
          </a:xfrm>
        </p:spPr>
      </p:pic>
    </p:spTree>
    <p:extLst>
      <p:ext uri="{BB962C8B-B14F-4D97-AF65-F5344CB8AC3E}">
        <p14:creationId xmlns:p14="http://schemas.microsoft.com/office/powerpoint/2010/main" val="937651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108B5B-8009-EBCC-5307-7EF620497B40}"/>
              </a:ext>
            </a:extLst>
          </p:cNvPr>
          <p:cNvSpPr>
            <a:spLocks noGrp="1"/>
          </p:cNvSpPr>
          <p:nvPr>
            <p:ph type="dt" sz="half" idx="10"/>
          </p:nvPr>
        </p:nvSpPr>
        <p:spPr/>
        <p:txBody>
          <a:bodyPr/>
          <a:lstStyle/>
          <a:p>
            <a:r>
              <a:rPr lang="en-US"/>
              <a:t>10-11-2025</a:t>
            </a:r>
            <a:endParaRPr lang="en-IN"/>
          </a:p>
        </p:txBody>
      </p:sp>
      <p:sp>
        <p:nvSpPr>
          <p:cNvPr id="3" name="Footer Placeholder 2">
            <a:extLst>
              <a:ext uri="{FF2B5EF4-FFF2-40B4-BE49-F238E27FC236}">
                <a16:creationId xmlns:a16="http://schemas.microsoft.com/office/drawing/2014/main" id="{E127E7CF-A531-7104-9A22-CD6618215D58}"/>
              </a:ext>
            </a:extLst>
          </p:cNvPr>
          <p:cNvSpPr>
            <a:spLocks noGrp="1"/>
          </p:cNvSpPr>
          <p:nvPr>
            <p:ph type="ftr" sz="quarter" idx="11"/>
          </p:nvPr>
        </p:nvSpPr>
        <p:spPr/>
        <p:txBody>
          <a:bodyPr/>
          <a:lstStyle/>
          <a:p>
            <a:r>
              <a:rPr lang="en-US"/>
              <a:t>Review No. 01         Batch No.  AB6         Department of CSE</a:t>
            </a:r>
            <a:endParaRPr lang="en-IN"/>
          </a:p>
        </p:txBody>
      </p:sp>
      <p:sp>
        <p:nvSpPr>
          <p:cNvPr id="4" name="Slide Number Placeholder 3">
            <a:extLst>
              <a:ext uri="{FF2B5EF4-FFF2-40B4-BE49-F238E27FC236}">
                <a16:creationId xmlns:a16="http://schemas.microsoft.com/office/drawing/2014/main" id="{0334FF43-B1E7-2A42-B912-F6BB0BDC099D}"/>
              </a:ext>
            </a:extLst>
          </p:cNvPr>
          <p:cNvSpPr>
            <a:spLocks noGrp="1"/>
          </p:cNvSpPr>
          <p:nvPr>
            <p:ph type="sldNum" sz="quarter" idx="12"/>
          </p:nvPr>
        </p:nvSpPr>
        <p:spPr/>
        <p:txBody>
          <a:bodyPr/>
          <a:lstStyle/>
          <a:p>
            <a:fld id="{65DCBD69-296B-4D7C-AF62-9B588FC78772}" type="slidenum">
              <a:rPr lang="en-IN" smtClean="0"/>
              <a:t>20</a:t>
            </a:fld>
            <a:endParaRPr lang="en-IN"/>
          </a:p>
        </p:txBody>
      </p:sp>
      <p:sp>
        <p:nvSpPr>
          <p:cNvPr id="10" name="TextBox 9">
            <a:extLst>
              <a:ext uri="{FF2B5EF4-FFF2-40B4-BE49-F238E27FC236}">
                <a16:creationId xmlns:a16="http://schemas.microsoft.com/office/drawing/2014/main" id="{A3F85FC2-6F4A-930B-3B64-312DAB390CD3}"/>
              </a:ext>
            </a:extLst>
          </p:cNvPr>
          <p:cNvSpPr txBox="1"/>
          <p:nvPr/>
        </p:nvSpPr>
        <p:spPr>
          <a:xfrm>
            <a:off x="4204505" y="101535"/>
            <a:ext cx="609407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Implementation of Frontend</a:t>
            </a:r>
            <a:endParaRPr lang="en-IN" sz="2400" dirty="0"/>
          </a:p>
        </p:txBody>
      </p:sp>
      <p:pic>
        <p:nvPicPr>
          <p:cNvPr id="11" name="Picture 10">
            <a:extLst>
              <a:ext uri="{FF2B5EF4-FFF2-40B4-BE49-F238E27FC236}">
                <a16:creationId xmlns:a16="http://schemas.microsoft.com/office/drawing/2014/main" id="{2E602E42-0D1D-C0A3-AE95-45438EB7D334}"/>
              </a:ext>
            </a:extLst>
          </p:cNvPr>
          <p:cNvPicPr>
            <a:picLocks noChangeAspect="1"/>
          </p:cNvPicPr>
          <p:nvPr/>
        </p:nvPicPr>
        <p:blipFill>
          <a:blip r:embed="rId2"/>
          <a:stretch>
            <a:fillRect/>
          </a:stretch>
        </p:blipFill>
        <p:spPr>
          <a:xfrm>
            <a:off x="0" y="63780"/>
            <a:ext cx="3905416" cy="600957"/>
          </a:xfrm>
          <a:prstGeom prst="rect">
            <a:avLst/>
          </a:prstGeom>
        </p:spPr>
      </p:pic>
      <p:pic>
        <p:nvPicPr>
          <p:cNvPr id="9" name="Picture 8">
            <a:extLst>
              <a:ext uri="{FF2B5EF4-FFF2-40B4-BE49-F238E27FC236}">
                <a16:creationId xmlns:a16="http://schemas.microsoft.com/office/drawing/2014/main" id="{E8AC747A-5138-BAE3-EC4B-9A5F9A4301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4793" y="664736"/>
            <a:ext cx="7862413" cy="5590077"/>
          </a:xfrm>
          <a:prstGeom prst="rect">
            <a:avLst/>
          </a:prstGeom>
        </p:spPr>
      </p:pic>
    </p:spTree>
    <p:extLst>
      <p:ext uri="{BB962C8B-B14F-4D97-AF65-F5344CB8AC3E}">
        <p14:creationId xmlns:p14="http://schemas.microsoft.com/office/powerpoint/2010/main" val="3168061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AA0B73-6CA5-E775-F5C6-1BFF6189A5AA}"/>
              </a:ext>
            </a:extLst>
          </p:cNvPr>
          <p:cNvSpPr>
            <a:spLocks noGrp="1"/>
          </p:cNvSpPr>
          <p:nvPr>
            <p:ph type="dt" sz="half" idx="10"/>
          </p:nvPr>
        </p:nvSpPr>
        <p:spPr/>
        <p:txBody>
          <a:bodyPr/>
          <a:lstStyle/>
          <a:p>
            <a:r>
              <a:rPr lang="en-US"/>
              <a:t>10-11-2025</a:t>
            </a:r>
            <a:endParaRPr lang="en-IN"/>
          </a:p>
        </p:txBody>
      </p:sp>
      <p:sp>
        <p:nvSpPr>
          <p:cNvPr id="3" name="Footer Placeholder 2">
            <a:extLst>
              <a:ext uri="{FF2B5EF4-FFF2-40B4-BE49-F238E27FC236}">
                <a16:creationId xmlns:a16="http://schemas.microsoft.com/office/drawing/2014/main" id="{2A09B01B-71CE-0B80-2644-CB49A8E68004}"/>
              </a:ext>
            </a:extLst>
          </p:cNvPr>
          <p:cNvSpPr>
            <a:spLocks noGrp="1"/>
          </p:cNvSpPr>
          <p:nvPr>
            <p:ph type="ftr" sz="quarter" idx="11"/>
          </p:nvPr>
        </p:nvSpPr>
        <p:spPr/>
        <p:txBody>
          <a:bodyPr/>
          <a:lstStyle/>
          <a:p>
            <a:r>
              <a:rPr lang="en-US"/>
              <a:t>Review No. 01         Batch No.  AB6         Department of CSE</a:t>
            </a:r>
            <a:endParaRPr lang="en-IN"/>
          </a:p>
        </p:txBody>
      </p:sp>
      <p:sp>
        <p:nvSpPr>
          <p:cNvPr id="4" name="Slide Number Placeholder 3">
            <a:extLst>
              <a:ext uri="{FF2B5EF4-FFF2-40B4-BE49-F238E27FC236}">
                <a16:creationId xmlns:a16="http://schemas.microsoft.com/office/drawing/2014/main" id="{0AE3A1CB-EF01-93C1-A86A-38F8BD63B4D7}"/>
              </a:ext>
            </a:extLst>
          </p:cNvPr>
          <p:cNvSpPr>
            <a:spLocks noGrp="1"/>
          </p:cNvSpPr>
          <p:nvPr>
            <p:ph type="sldNum" sz="quarter" idx="12"/>
          </p:nvPr>
        </p:nvSpPr>
        <p:spPr/>
        <p:txBody>
          <a:bodyPr/>
          <a:lstStyle/>
          <a:p>
            <a:fld id="{65DCBD69-296B-4D7C-AF62-9B588FC78772}" type="slidenum">
              <a:rPr lang="en-IN" smtClean="0"/>
              <a:t>21</a:t>
            </a:fld>
            <a:endParaRPr lang="en-IN"/>
          </a:p>
        </p:txBody>
      </p:sp>
      <p:sp>
        <p:nvSpPr>
          <p:cNvPr id="14" name="TextBox 13">
            <a:extLst>
              <a:ext uri="{FF2B5EF4-FFF2-40B4-BE49-F238E27FC236}">
                <a16:creationId xmlns:a16="http://schemas.microsoft.com/office/drawing/2014/main" id="{8CDCD86D-4A7E-74DD-5207-DFABDE68309A}"/>
              </a:ext>
            </a:extLst>
          </p:cNvPr>
          <p:cNvSpPr txBox="1"/>
          <p:nvPr/>
        </p:nvSpPr>
        <p:spPr>
          <a:xfrm>
            <a:off x="4038600" y="136525"/>
            <a:ext cx="609407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Implementation of Frontend</a:t>
            </a:r>
            <a:endParaRPr lang="en-IN" sz="2800" dirty="0"/>
          </a:p>
        </p:txBody>
      </p:sp>
      <p:pic>
        <p:nvPicPr>
          <p:cNvPr id="15" name="Picture 14">
            <a:extLst>
              <a:ext uri="{FF2B5EF4-FFF2-40B4-BE49-F238E27FC236}">
                <a16:creationId xmlns:a16="http://schemas.microsoft.com/office/drawing/2014/main" id="{C293FE92-8B18-F71D-75BB-C2D407E11138}"/>
              </a:ext>
            </a:extLst>
          </p:cNvPr>
          <p:cNvPicPr>
            <a:picLocks noChangeAspect="1"/>
          </p:cNvPicPr>
          <p:nvPr/>
        </p:nvPicPr>
        <p:blipFill>
          <a:blip r:embed="rId2"/>
          <a:stretch>
            <a:fillRect/>
          </a:stretch>
        </p:blipFill>
        <p:spPr>
          <a:xfrm>
            <a:off x="0" y="63780"/>
            <a:ext cx="3762900" cy="579027"/>
          </a:xfrm>
          <a:prstGeom prst="rect">
            <a:avLst/>
          </a:prstGeom>
        </p:spPr>
      </p:pic>
      <p:pic>
        <p:nvPicPr>
          <p:cNvPr id="7" name="Picture 6">
            <a:extLst>
              <a:ext uri="{FF2B5EF4-FFF2-40B4-BE49-F238E27FC236}">
                <a16:creationId xmlns:a16="http://schemas.microsoft.com/office/drawing/2014/main" id="{FBDECB83-DD00-CBC2-6C7C-8518ACB435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7839" y="967563"/>
            <a:ext cx="8036321" cy="5209954"/>
          </a:xfrm>
          <a:prstGeom prst="rect">
            <a:avLst/>
          </a:prstGeom>
        </p:spPr>
      </p:pic>
    </p:spTree>
    <p:extLst>
      <p:ext uri="{BB962C8B-B14F-4D97-AF65-F5344CB8AC3E}">
        <p14:creationId xmlns:p14="http://schemas.microsoft.com/office/powerpoint/2010/main" val="25725739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2EFC2B-953E-705F-30B8-D0F501B98977}"/>
              </a:ext>
            </a:extLst>
          </p:cNvPr>
          <p:cNvSpPr>
            <a:spLocks noGrp="1"/>
          </p:cNvSpPr>
          <p:nvPr>
            <p:ph type="dt" sz="half" idx="10"/>
          </p:nvPr>
        </p:nvSpPr>
        <p:spPr/>
        <p:txBody>
          <a:bodyPr/>
          <a:lstStyle/>
          <a:p>
            <a:r>
              <a:rPr lang="en-US"/>
              <a:t>10-11-2025</a:t>
            </a:r>
            <a:endParaRPr lang="en-IN"/>
          </a:p>
        </p:txBody>
      </p:sp>
      <p:sp>
        <p:nvSpPr>
          <p:cNvPr id="3" name="Footer Placeholder 2">
            <a:extLst>
              <a:ext uri="{FF2B5EF4-FFF2-40B4-BE49-F238E27FC236}">
                <a16:creationId xmlns:a16="http://schemas.microsoft.com/office/drawing/2014/main" id="{3921FDFA-6964-21A5-D6C9-C37984760B17}"/>
              </a:ext>
            </a:extLst>
          </p:cNvPr>
          <p:cNvSpPr>
            <a:spLocks noGrp="1"/>
          </p:cNvSpPr>
          <p:nvPr>
            <p:ph type="ftr" sz="quarter" idx="11"/>
          </p:nvPr>
        </p:nvSpPr>
        <p:spPr/>
        <p:txBody>
          <a:bodyPr/>
          <a:lstStyle/>
          <a:p>
            <a:r>
              <a:rPr lang="en-US"/>
              <a:t>Review No. 01         Batch No.  AB6         Department of CSE</a:t>
            </a:r>
            <a:endParaRPr lang="en-IN"/>
          </a:p>
        </p:txBody>
      </p:sp>
      <p:sp>
        <p:nvSpPr>
          <p:cNvPr id="4" name="Slide Number Placeholder 3">
            <a:extLst>
              <a:ext uri="{FF2B5EF4-FFF2-40B4-BE49-F238E27FC236}">
                <a16:creationId xmlns:a16="http://schemas.microsoft.com/office/drawing/2014/main" id="{0A3E2F12-3059-3E56-3223-1031EE9D7F58}"/>
              </a:ext>
            </a:extLst>
          </p:cNvPr>
          <p:cNvSpPr>
            <a:spLocks noGrp="1"/>
          </p:cNvSpPr>
          <p:nvPr>
            <p:ph type="sldNum" sz="quarter" idx="12"/>
          </p:nvPr>
        </p:nvSpPr>
        <p:spPr/>
        <p:txBody>
          <a:bodyPr/>
          <a:lstStyle/>
          <a:p>
            <a:fld id="{65DCBD69-296B-4D7C-AF62-9B588FC78772}" type="slidenum">
              <a:rPr lang="en-IN" smtClean="0"/>
              <a:t>22</a:t>
            </a:fld>
            <a:endParaRPr lang="en-IN"/>
          </a:p>
        </p:txBody>
      </p:sp>
      <p:sp>
        <p:nvSpPr>
          <p:cNvPr id="10" name="TextBox 9">
            <a:extLst>
              <a:ext uri="{FF2B5EF4-FFF2-40B4-BE49-F238E27FC236}">
                <a16:creationId xmlns:a16="http://schemas.microsoft.com/office/drawing/2014/main" id="{A38E3538-2585-FCFA-9BAB-072777A67A48}"/>
              </a:ext>
            </a:extLst>
          </p:cNvPr>
          <p:cNvSpPr txBox="1"/>
          <p:nvPr/>
        </p:nvSpPr>
        <p:spPr>
          <a:xfrm>
            <a:off x="4038600" y="63857"/>
            <a:ext cx="6094070" cy="523220"/>
          </a:xfrm>
          <a:prstGeom prst="rect">
            <a:avLst/>
          </a:prstGeom>
          <a:noFill/>
        </p:spPr>
        <p:txBody>
          <a:bodyPr wrap="square">
            <a:spAutoFit/>
          </a:bodyPr>
          <a:lstStyle/>
          <a:p>
            <a:pPr marL="0" algn="l" rtl="0" eaLnBrk="1" latinLnBrk="0" hangingPunct="1">
              <a:buNone/>
            </a:pPr>
            <a:r>
              <a:rPr lang="en-US" sz="2800" b="1" kern="1200" dirty="0">
                <a:solidFill>
                  <a:srgbClr val="000000"/>
                </a:solidFill>
                <a:effectLst/>
                <a:latin typeface="Times New Roman" panose="02020603050405020304" pitchFamily="18" charset="0"/>
                <a:ea typeface="+mn-ea"/>
                <a:cs typeface="Times New Roman" panose="02020603050405020304" pitchFamily="18" charset="0"/>
              </a:rPr>
              <a:t>Implementation of Frontend</a:t>
            </a:r>
            <a:endParaRPr lang="en-IN" sz="2800" dirty="0">
              <a:effectLst/>
            </a:endParaRPr>
          </a:p>
        </p:txBody>
      </p:sp>
      <p:pic>
        <p:nvPicPr>
          <p:cNvPr id="12" name="Picture 11">
            <a:extLst>
              <a:ext uri="{FF2B5EF4-FFF2-40B4-BE49-F238E27FC236}">
                <a16:creationId xmlns:a16="http://schemas.microsoft.com/office/drawing/2014/main" id="{DC33FE98-D4AE-1E8C-1F53-FE96EDC6CC13}"/>
              </a:ext>
            </a:extLst>
          </p:cNvPr>
          <p:cNvPicPr>
            <a:picLocks noChangeAspect="1"/>
          </p:cNvPicPr>
          <p:nvPr/>
        </p:nvPicPr>
        <p:blipFill>
          <a:blip r:embed="rId2"/>
          <a:stretch>
            <a:fillRect/>
          </a:stretch>
        </p:blipFill>
        <p:spPr>
          <a:xfrm>
            <a:off x="114179" y="82567"/>
            <a:ext cx="3762375" cy="571500"/>
          </a:xfrm>
          <a:prstGeom prst="rect">
            <a:avLst/>
          </a:prstGeom>
        </p:spPr>
      </p:pic>
      <p:pic>
        <p:nvPicPr>
          <p:cNvPr id="6" name="Picture 5">
            <a:extLst>
              <a:ext uri="{FF2B5EF4-FFF2-40B4-BE49-F238E27FC236}">
                <a16:creationId xmlns:a16="http://schemas.microsoft.com/office/drawing/2014/main" id="{182E02E0-DF99-27A9-1254-80A7BF0AF2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0154" y="654067"/>
            <a:ext cx="7971692" cy="5769274"/>
          </a:xfrm>
          <a:prstGeom prst="rect">
            <a:avLst/>
          </a:prstGeom>
        </p:spPr>
      </p:pic>
    </p:spTree>
    <p:extLst>
      <p:ext uri="{BB962C8B-B14F-4D97-AF65-F5344CB8AC3E}">
        <p14:creationId xmlns:p14="http://schemas.microsoft.com/office/powerpoint/2010/main" val="38004564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05118"/>
            <a:ext cx="10515600" cy="726142"/>
          </a:xfrm>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RESULTS &amp; ANALYSIS</a:t>
            </a:r>
            <a:endParaRPr lang="en-IN" b="1" dirty="0"/>
          </a:p>
        </p:txBody>
      </p:sp>
      <p:sp>
        <p:nvSpPr>
          <p:cNvPr id="4" name="Date Placeholder 3"/>
          <p:cNvSpPr>
            <a:spLocks noGrp="1"/>
          </p:cNvSpPr>
          <p:nvPr>
            <p:ph type="dt" sz="half" idx="10"/>
          </p:nvPr>
        </p:nvSpPr>
        <p:spPr/>
        <p:txBody>
          <a:bodyPr/>
          <a:lstStyle/>
          <a:p>
            <a:r>
              <a:rPr lang="en-US"/>
              <a:t>10-11-2025</a:t>
            </a:r>
            <a:endParaRPr lang="en-IN" dirty="0"/>
          </a:p>
        </p:txBody>
      </p:sp>
      <p:sp>
        <p:nvSpPr>
          <p:cNvPr id="5" name="Footer Placeholder 4"/>
          <p:cNvSpPr>
            <a:spLocks noGrp="1"/>
          </p:cNvSpPr>
          <p:nvPr>
            <p:ph type="ftr" sz="quarter" idx="11"/>
          </p:nvPr>
        </p:nvSpPr>
        <p:spPr/>
        <p:txBody>
          <a:bodyPr/>
          <a:lstStyle/>
          <a:p>
            <a:r>
              <a:rPr lang="en-US"/>
              <a:t>Review No. 01         Batch No.  AB6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23</a:t>
            </a:fld>
            <a:endParaRPr lang="en-IN"/>
          </a:p>
        </p:txBody>
      </p:sp>
      <p:graphicFrame>
        <p:nvGraphicFramePr>
          <p:cNvPr id="8" name="Content Placeholder 7">
            <a:extLst>
              <a:ext uri="{FF2B5EF4-FFF2-40B4-BE49-F238E27FC236}">
                <a16:creationId xmlns:a16="http://schemas.microsoft.com/office/drawing/2014/main" id="{062EEC63-EFD6-4891-6964-459F2BB2B008}"/>
              </a:ext>
            </a:extLst>
          </p:cNvPr>
          <p:cNvGraphicFramePr>
            <a:graphicFrameLocks noGrp="1"/>
          </p:cNvGraphicFramePr>
          <p:nvPr>
            <p:ph idx="1"/>
            <p:extLst>
              <p:ext uri="{D42A27DB-BD31-4B8C-83A1-F6EECF244321}">
                <p14:modId xmlns:p14="http://schemas.microsoft.com/office/powerpoint/2010/main" val="1428165585"/>
              </p:ext>
            </p:extLst>
          </p:nvPr>
        </p:nvGraphicFramePr>
        <p:xfrm>
          <a:off x="1652336" y="1380224"/>
          <a:ext cx="5259102" cy="5071730"/>
        </p:xfrm>
        <a:graphic>
          <a:graphicData uri="http://schemas.openxmlformats.org/drawingml/2006/table">
            <a:tbl>
              <a:tblPr/>
              <a:tblGrid>
                <a:gridCol w="1753034">
                  <a:extLst>
                    <a:ext uri="{9D8B030D-6E8A-4147-A177-3AD203B41FA5}">
                      <a16:colId xmlns:a16="http://schemas.microsoft.com/office/drawing/2014/main" val="4124021638"/>
                    </a:ext>
                  </a:extLst>
                </a:gridCol>
                <a:gridCol w="1753034">
                  <a:extLst>
                    <a:ext uri="{9D8B030D-6E8A-4147-A177-3AD203B41FA5}">
                      <a16:colId xmlns:a16="http://schemas.microsoft.com/office/drawing/2014/main" val="2728161939"/>
                    </a:ext>
                  </a:extLst>
                </a:gridCol>
                <a:gridCol w="1753034">
                  <a:extLst>
                    <a:ext uri="{9D8B030D-6E8A-4147-A177-3AD203B41FA5}">
                      <a16:colId xmlns:a16="http://schemas.microsoft.com/office/drawing/2014/main" val="4085866779"/>
                    </a:ext>
                  </a:extLst>
                </a:gridCol>
              </a:tblGrid>
              <a:tr h="0">
                <a:tc>
                  <a:txBody>
                    <a:bodyPr/>
                    <a:lstStyle/>
                    <a:p>
                      <a:pPr>
                        <a:buNone/>
                      </a:pPr>
                      <a:r>
                        <a:rPr lang="en-IN" b="1" baseline="-25000"/>
                        <a:t>Metric</a:t>
                      </a:r>
                      <a:endParaRPr lang="en-IN" baseline="-25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baseline="-25000"/>
                        <a:t>Observation</a:t>
                      </a:r>
                      <a:endParaRPr lang="en-IN" baseline="-25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baseline="-25000"/>
                        <a:t>Result</a:t>
                      </a:r>
                      <a:endParaRPr lang="en-IN" baseline="-25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9042432"/>
                  </a:ext>
                </a:extLst>
              </a:tr>
              <a:tr h="729310">
                <a:tc>
                  <a:txBody>
                    <a:bodyPr/>
                    <a:lstStyle/>
                    <a:p>
                      <a:pPr>
                        <a:buNone/>
                      </a:pPr>
                      <a:r>
                        <a:rPr lang="en-IN" b="1" baseline="-25000"/>
                        <a:t>Accuracy</a:t>
                      </a:r>
                      <a:endParaRPr lang="en-IN" baseline="-25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aseline="-25000"/>
                        <a:t>Model correctly classifies most face mask categories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baseline="-25000"/>
                        <a:t>98%</a:t>
                      </a:r>
                      <a:endParaRPr lang="en-IN" baseline="-25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9548431"/>
                  </a:ext>
                </a:extLst>
              </a:tr>
              <a:tr h="729310">
                <a:tc>
                  <a:txBody>
                    <a:bodyPr/>
                    <a:lstStyle/>
                    <a:p>
                      <a:pPr>
                        <a:buNone/>
                      </a:pPr>
                      <a:r>
                        <a:rPr lang="en-IN" b="1" baseline="-25000"/>
                        <a:t>Validation Accuracy</a:t>
                      </a:r>
                      <a:endParaRPr lang="en-IN" baseline="-25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aseline="-25000"/>
                        <a:t>Shows strong generalization and low overfitting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baseline="-25000"/>
                        <a:t>97%</a:t>
                      </a:r>
                      <a:endParaRPr lang="en-IN" baseline="-25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3231149"/>
                  </a:ext>
                </a:extLst>
              </a:tr>
              <a:tr h="561007">
                <a:tc>
                  <a:txBody>
                    <a:bodyPr/>
                    <a:lstStyle/>
                    <a:p>
                      <a:pPr>
                        <a:buNone/>
                      </a:pPr>
                      <a:r>
                        <a:rPr lang="en-IN" b="1" baseline="-25000"/>
                        <a:t>Precision</a:t>
                      </a:r>
                      <a:endParaRPr lang="en-IN" baseline="-25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aseline="-25000"/>
                        <a:t>Very few false positives in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baseline="-25000"/>
                        <a:t>&gt; 96%</a:t>
                      </a:r>
                      <a:endParaRPr lang="en-IN" baseline="-25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098536"/>
                  </a:ext>
                </a:extLst>
              </a:tr>
              <a:tr h="729310">
                <a:tc>
                  <a:txBody>
                    <a:bodyPr/>
                    <a:lstStyle/>
                    <a:p>
                      <a:pPr>
                        <a:buNone/>
                      </a:pPr>
                      <a:r>
                        <a:rPr lang="en-IN" b="1" baseline="-25000"/>
                        <a:t>Recall</a:t>
                      </a:r>
                      <a:endParaRPr lang="en-IN" baseline="-25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aseline="-25000" dirty="0"/>
                        <a:t>High ability to detect real masked/unmasked faces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baseline="-25000"/>
                        <a:t>&gt; 96%</a:t>
                      </a:r>
                      <a:endParaRPr lang="en-IN" baseline="-25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2666376"/>
                  </a:ext>
                </a:extLst>
              </a:tr>
              <a:tr h="729310">
                <a:tc>
                  <a:txBody>
                    <a:bodyPr/>
                    <a:lstStyle/>
                    <a:p>
                      <a:pPr>
                        <a:buNone/>
                      </a:pPr>
                      <a:r>
                        <a:rPr lang="en-IN" b="1" baseline="-25000"/>
                        <a:t>F1-Score</a:t>
                      </a:r>
                      <a:endParaRPr lang="en-IN" baseline="-25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aseline="-25000"/>
                        <a:t>Balanced precision and recall for stable 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baseline="-25000"/>
                        <a:t>&gt; 96%</a:t>
                      </a:r>
                      <a:endParaRPr lang="en-IN" baseline="-25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0799505"/>
                  </a:ext>
                </a:extLst>
              </a:tr>
              <a:tr h="1319163">
                <a:tc>
                  <a:txBody>
                    <a:bodyPr/>
                    <a:lstStyle/>
                    <a:p>
                      <a:pPr>
                        <a:buNone/>
                      </a:pPr>
                      <a:r>
                        <a:rPr lang="en-IN" b="1" baseline="-25000"/>
                        <a:t>AUC Score (ROC)</a:t>
                      </a:r>
                      <a:endParaRPr lang="en-IN" baseline="-25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aseline="-25000"/>
                        <a:t>Excellent separability between classes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baseline="-25000" dirty="0"/>
                        <a:t>0.98 – 0.99</a:t>
                      </a:r>
                      <a:endParaRPr lang="en-IN" baseline="-25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3926441"/>
                  </a:ext>
                </a:extLst>
              </a:tr>
            </a:tbl>
          </a:graphicData>
        </a:graphic>
      </p:graphicFrame>
      <p:pic>
        <p:nvPicPr>
          <p:cNvPr id="12" name="Picture 11">
            <a:extLst>
              <a:ext uri="{FF2B5EF4-FFF2-40B4-BE49-F238E27FC236}">
                <a16:creationId xmlns:a16="http://schemas.microsoft.com/office/drawing/2014/main" id="{964F2CB3-E1E3-4EC5-7A3A-406EA0454034}"/>
              </a:ext>
            </a:extLst>
          </p:cNvPr>
          <p:cNvPicPr>
            <a:picLocks noChangeAspect="1"/>
          </p:cNvPicPr>
          <p:nvPr/>
        </p:nvPicPr>
        <p:blipFill>
          <a:blip r:embed="rId2">
            <a:extLst>
              <a:ext uri="{28A0092B-C50C-407E-A947-70E740481C1C}">
                <a14:useLocalDpi xmlns:a14="http://schemas.microsoft.com/office/drawing/2010/main" val="0"/>
              </a:ext>
            </a:extLst>
          </a:blip>
          <a:srcRect l="1967" t="6507" r="2540"/>
          <a:stretch>
            <a:fillRect/>
          </a:stretch>
        </p:blipFill>
        <p:spPr>
          <a:xfrm>
            <a:off x="7240771" y="2073348"/>
            <a:ext cx="4812535" cy="3818827"/>
          </a:xfrm>
          <a:prstGeom prst="rect">
            <a:avLst/>
          </a:prstGeom>
        </p:spPr>
      </p:pic>
    </p:spTree>
    <p:extLst>
      <p:ext uri="{BB962C8B-B14F-4D97-AF65-F5344CB8AC3E}">
        <p14:creationId xmlns:p14="http://schemas.microsoft.com/office/powerpoint/2010/main" val="1307255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30306"/>
            <a:ext cx="10515600" cy="900953"/>
          </a:xfrm>
        </p:spPr>
        <p:txBody>
          <a:bodyPr/>
          <a:lstStyle/>
          <a:p>
            <a:pPr algn="ctr"/>
            <a:r>
              <a:rPr lang="en-IN" b="1" dirty="0">
                <a:latin typeface="Times New Roman" panose="02020603050405020304" pitchFamily="18" charset="0"/>
                <a:cs typeface="Times New Roman" panose="02020603050405020304" pitchFamily="18" charset="0"/>
              </a:rPr>
              <a:t>RESULTS &amp; ANALYSIS</a:t>
            </a:r>
            <a:endParaRPr lang="en-IN" dirty="0"/>
          </a:p>
        </p:txBody>
      </p:sp>
      <p:sp>
        <p:nvSpPr>
          <p:cNvPr id="4" name="Date Placeholder 3"/>
          <p:cNvSpPr>
            <a:spLocks noGrp="1"/>
          </p:cNvSpPr>
          <p:nvPr>
            <p:ph type="dt" sz="half" idx="10"/>
          </p:nvPr>
        </p:nvSpPr>
        <p:spPr/>
        <p:txBody>
          <a:bodyPr/>
          <a:lstStyle/>
          <a:p>
            <a:r>
              <a:rPr lang="en-US"/>
              <a:t>10-11-2025</a:t>
            </a:r>
            <a:endParaRPr lang="en-IN" dirty="0"/>
          </a:p>
        </p:txBody>
      </p:sp>
      <p:sp>
        <p:nvSpPr>
          <p:cNvPr id="5" name="Footer Placeholder 4"/>
          <p:cNvSpPr>
            <a:spLocks noGrp="1"/>
          </p:cNvSpPr>
          <p:nvPr>
            <p:ph type="ftr" sz="quarter" idx="11"/>
          </p:nvPr>
        </p:nvSpPr>
        <p:spPr/>
        <p:txBody>
          <a:bodyPr/>
          <a:lstStyle/>
          <a:p>
            <a:r>
              <a:rPr lang="en-US"/>
              <a:t>Review No. 01         Batch No.  AB6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24</a:t>
            </a:fld>
            <a:endParaRPr lang="en-IN"/>
          </a:p>
        </p:txBody>
      </p:sp>
      <p:sp>
        <p:nvSpPr>
          <p:cNvPr id="8" name="Rectangle 7"/>
          <p:cNvSpPr/>
          <p:nvPr/>
        </p:nvSpPr>
        <p:spPr>
          <a:xfrm>
            <a:off x="470647" y="1781175"/>
            <a:ext cx="4814049" cy="1569660"/>
          </a:xfrm>
          <a:prstGeom prst="rect">
            <a:avLst/>
          </a:prstGeom>
        </p:spPr>
        <p:txBody>
          <a:bodyPr wrap="square">
            <a:spAutoFit/>
          </a:bodyPr>
          <a:lstStyle/>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54CE2A31-5744-116C-471E-140038FEBEBE}"/>
              </a:ext>
            </a:extLst>
          </p:cNvPr>
          <p:cNvSpPr>
            <a:spLocks noGrp="1"/>
          </p:cNvSpPr>
          <p:nvPr>
            <p:ph idx="1"/>
          </p:nvPr>
        </p:nvSpPr>
        <p:spPr>
          <a:xfrm>
            <a:off x="791938" y="1945021"/>
            <a:ext cx="5450305" cy="4395788"/>
          </a:xfrm>
        </p:spPr>
        <p:txBody>
          <a:bodyPr/>
          <a:lstStyle/>
          <a:p>
            <a:r>
              <a:rPr lang="en-IN" dirty="0"/>
              <a:t>Strong Mask Classification Accuracy</a:t>
            </a:r>
          </a:p>
          <a:p>
            <a:r>
              <a:rPr lang="en-US" dirty="0"/>
              <a:t>High ROC–AUC Score (0.98–0.99)</a:t>
            </a:r>
          </a:p>
          <a:p>
            <a:r>
              <a:rPr lang="en-US" dirty="0"/>
              <a:t>Very Low False Positive &amp; False Negative Rates</a:t>
            </a:r>
          </a:p>
          <a:p>
            <a:r>
              <a:rPr lang="en-US" dirty="0"/>
              <a:t>Consistent Performance Across Different Lighting &amp; Backgrounds</a:t>
            </a:r>
          </a:p>
          <a:p>
            <a:r>
              <a:rPr lang="en-US" dirty="0"/>
              <a:t>Efficient Real-Time Detection with Lightweight Model</a:t>
            </a:r>
            <a:endParaRPr lang="en-IN" dirty="0"/>
          </a:p>
        </p:txBody>
      </p:sp>
      <p:pic>
        <p:nvPicPr>
          <p:cNvPr id="7" name="Picture 6">
            <a:extLst>
              <a:ext uri="{FF2B5EF4-FFF2-40B4-BE49-F238E27FC236}">
                <a16:creationId xmlns:a16="http://schemas.microsoft.com/office/drawing/2014/main" id="{104B8849-40E9-8E8A-96C8-A932838028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0977" y="1206689"/>
            <a:ext cx="5020376" cy="4572638"/>
          </a:xfrm>
          <a:prstGeom prst="rect">
            <a:avLst/>
          </a:prstGeom>
        </p:spPr>
      </p:pic>
    </p:spTree>
    <p:extLst>
      <p:ext uri="{BB962C8B-B14F-4D97-AF65-F5344CB8AC3E}">
        <p14:creationId xmlns:p14="http://schemas.microsoft.com/office/powerpoint/2010/main" val="31533721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CONCLUSION &amp; FUTURE SCOPE</a:t>
            </a:r>
            <a:endParaRPr lang="en-IN" dirty="0"/>
          </a:p>
        </p:txBody>
      </p:sp>
      <p:sp>
        <p:nvSpPr>
          <p:cNvPr id="4" name="Date Placeholder 3"/>
          <p:cNvSpPr>
            <a:spLocks noGrp="1"/>
          </p:cNvSpPr>
          <p:nvPr>
            <p:ph type="dt" sz="half" idx="10"/>
          </p:nvPr>
        </p:nvSpPr>
        <p:spPr/>
        <p:txBody>
          <a:bodyPr/>
          <a:lstStyle/>
          <a:p>
            <a:r>
              <a:rPr lang="en-US"/>
              <a:t>10-11-2025</a:t>
            </a:r>
            <a:endParaRPr lang="en-IN" dirty="0"/>
          </a:p>
        </p:txBody>
      </p:sp>
      <p:sp>
        <p:nvSpPr>
          <p:cNvPr id="5" name="Footer Placeholder 4"/>
          <p:cNvSpPr>
            <a:spLocks noGrp="1"/>
          </p:cNvSpPr>
          <p:nvPr>
            <p:ph type="ftr" sz="quarter" idx="11"/>
          </p:nvPr>
        </p:nvSpPr>
        <p:spPr/>
        <p:txBody>
          <a:bodyPr/>
          <a:lstStyle/>
          <a:p>
            <a:r>
              <a:rPr lang="en-US"/>
              <a:t>Review No. 01         Batch No.  AB6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25</a:t>
            </a:fld>
            <a:endParaRPr lang="en-IN" dirty="0"/>
          </a:p>
        </p:txBody>
      </p:sp>
      <p:sp>
        <p:nvSpPr>
          <p:cNvPr id="7" name="Rectangle 1"/>
          <p:cNvSpPr>
            <a:spLocks noGrp="1" noChangeArrowheads="1"/>
          </p:cNvSpPr>
          <p:nvPr>
            <p:ph idx="1"/>
          </p:nvPr>
        </p:nvSpPr>
        <p:spPr bwMode="auto">
          <a:xfrm>
            <a:off x="578224" y="1414906"/>
            <a:ext cx="11040035"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IN" sz="2200" b="1" dirty="0">
                <a:latin typeface="Times New Roman" panose="02020603050405020304" pitchFamily="18" charset="0"/>
                <a:cs typeface="Times New Roman" panose="02020603050405020304" pitchFamily="18" charset="0"/>
              </a:rPr>
              <a:t>Conclusion</a:t>
            </a:r>
            <a:r>
              <a:rPr lang="en-IN" sz="2200" dirty="0">
                <a:latin typeface="Times New Roman" panose="02020603050405020304" pitchFamily="18" charset="0"/>
                <a:cs typeface="Times New Roman" panose="02020603050405020304" pitchFamily="18" charset="0"/>
              </a:rPr>
              <a:t>:</a:t>
            </a:r>
          </a:p>
          <a:p>
            <a:pPr marL="0" lvl="0" indent="0" eaLnBrk="0" fontAlgn="base" hangingPunct="0">
              <a:lnSpc>
                <a:spcPct val="100000"/>
              </a:lnSpc>
              <a:spcBef>
                <a:spcPct val="0"/>
              </a:spcBef>
              <a:spcAft>
                <a:spcPct val="0"/>
              </a:spcAft>
              <a:buFontTx/>
              <a:buChar char="•"/>
            </a:pPr>
            <a:r>
              <a:rPr lang="en-US" sz="2400" dirty="0"/>
              <a:t>The proposed deep learning–based real-time face mask detection system achieves high accuracy in identifying masked and unmasked individuals using CNN with transfer learning, performing reliably under varied lighting, backgrounds, and face orientations.</a:t>
            </a:r>
          </a:p>
          <a:p>
            <a:pPr marL="0" lvl="0" indent="0" eaLnBrk="0" fontAlgn="base" hangingPunct="0">
              <a:lnSpc>
                <a:spcPct val="100000"/>
              </a:lnSpc>
              <a:spcBef>
                <a:spcPct val="0"/>
              </a:spcBef>
              <a:spcAft>
                <a:spcPct val="0"/>
              </a:spcAft>
              <a:buFontTx/>
              <a:buChar char="•"/>
            </a:pPr>
            <a:r>
              <a:rPr lang="en-US" sz="2400" dirty="0"/>
              <a:t>Its lightweight architecture enables fast inference and efficient deployment in smart surveillance environments, making the solution practical for real-world monitoring applications.</a:t>
            </a:r>
            <a:endParaRPr lang="en-US" altLang="en-US" sz="22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altLang="en-US" sz="2200" b="1" dirty="0">
                <a:latin typeface="Times New Roman" panose="02020603050405020304" pitchFamily="18" charset="0"/>
                <a:cs typeface="Times New Roman" panose="02020603050405020304" pitchFamily="18" charset="0"/>
              </a:rPr>
              <a:t>Future Scope:</a:t>
            </a:r>
          </a:p>
          <a:p>
            <a:pPr marL="0" lvl="0" indent="0" eaLnBrk="0" fontAlgn="base" hangingPunct="0">
              <a:lnSpc>
                <a:spcPct val="100000"/>
              </a:lnSpc>
              <a:spcBef>
                <a:spcPct val="0"/>
              </a:spcBef>
              <a:spcAft>
                <a:spcPct val="0"/>
              </a:spcAft>
              <a:buFontTx/>
              <a:buChar char="•"/>
            </a:pPr>
            <a:r>
              <a:rPr lang="en-US" sz="2400" dirty="0"/>
              <a:t>Extend the system for multi-class classification (e.g., incorrect mask, improper mask wearing). </a:t>
            </a:r>
          </a:p>
          <a:p>
            <a:pPr marL="0" lvl="0" indent="0" eaLnBrk="0" fontAlgn="base" hangingPunct="0">
              <a:lnSpc>
                <a:spcPct val="100000"/>
              </a:lnSpc>
              <a:spcBef>
                <a:spcPct val="0"/>
              </a:spcBef>
              <a:spcAft>
                <a:spcPct val="0"/>
              </a:spcAft>
              <a:buFontTx/>
              <a:buChar char="•"/>
            </a:pPr>
            <a:r>
              <a:rPr lang="en-US" sz="2400" dirty="0"/>
              <a:t>Enhance robustness using real-world video datasets with higher environmental variability.</a:t>
            </a:r>
          </a:p>
        </p:txBody>
      </p:sp>
    </p:spTree>
    <p:extLst>
      <p:ext uri="{BB962C8B-B14F-4D97-AF65-F5344CB8AC3E}">
        <p14:creationId xmlns:p14="http://schemas.microsoft.com/office/powerpoint/2010/main" val="1783655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2032"/>
          </a:xfrm>
        </p:spPr>
        <p:txBody>
          <a:bodyPr/>
          <a:lstStyle/>
          <a:p>
            <a:pPr algn="ctr"/>
            <a:r>
              <a:rPr lang="en-US" b="1" dirty="0">
                <a:latin typeface="Times New Roman" panose="02020603050405020304" pitchFamily="18" charset="0"/>
                <a:cs typeface="Times New Roman" panose="02020603050405020304" pitchFamily="18" charset="0"/>
              </a:rPr>
              <a:t>REFERENCES</a:t>
            </a:r>
            <a:endParaRPr lang="en-IN"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t>10-11-2025</a:t>
            </a:r>
            <a:endParaRPr lang="en-IN" dirty="0"/>
          </a:p>
        </p:txBody>
      </p:sp>
      <p:sp>
        <p:nvSpPr>
          <p:cNvPr id="5" name="Footer Placeholder 4"/>
          <p:cNvSpPr>
            <a:spLocks noGrp="1"/>
          </p:cNvSpPr>
          <p:nvPr>
            <p:ph type="ftr" sz="quarter" idx="11"/>
          </p:nvPr>
        </p:nvSpPr>
        <p:spPr/>
        <p:txBody>
          <a:bodyPr/>
          <a:lstStyle/>
          <a:p>
            <a:r>
              <a:rPr lang="en-US"/>
              <a:t>Review No. 01         Batch No.  AB6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26</a:t>
            </a:fld>
            <a:endParaRPr lang="en-IN"/>
          </a:p>
        </p:txBody>
      </p:sp>
      <p:sp>
        <p:nvSpPr>
          <p:cNvPr id="3" name="Rectangle 1">
            <a:extLst>
              <a:ext uri="{FF2B5EF4-FFF2-40B4-BE49-F238E27FC236}">
                <a16:creationId xmlns:a16="http://schemas.microsoft.com/office/drawing/2014/main" id="{F826C846-8D01-4520-6BEE-A92B6ACEEF1C}"/>
              </a:ext>
            </a:extLst>
          </p:cNvPr>
          <p:cNvSpPr>
            <a:spLocks noGrp="1" noChangeArrowheads="1"/>
          </p:cNvSpPr>
          <p:nvPr>
            <p:ph idx="1"/>
          </p:nvPr>
        </p:nvSpPr>
        <p:spPr bwMode="auto">
          <a:xfrm>
            <a:off x="368969" y="1344181"/>
            <a:ext cx="11149264" cy="4755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IN" sz="1600" b="1" dirty="0"/>
              <a:t>M. Kumar, A. Arora, A. Deb, and A. L. Yadav</a:t>
            </a:r>
            <a:r>
              <a:rPr lang="en-IN" sz="1600" dirty="0"/>
              <a:t>, “Real-Time Face Mask Detection Using Deep Learning and ResNet50 for Smart Surveillance Systems,” </a:t>
            </a:r>
            <a:r>
              <a:rPr lang="en-IN" sz="1600" i="1" dirty="0"/>
              <a:t>Proc. 2024 Int’l Conf. Computational Intelligence and Computing Applications (ICCICA)</a:t>
            </a:r>
            <a:r>
              <a:rPr lang="en-IN" sz="1600" dirty="0"/>
              <a:t>, May 2024.</a:t>
            </a:r>
          </a:p>
          <a:p>
            <a:pPr marL="0" lvl="0" indent="0" eaLnBrk="0" fontAlgn="base" hangingPunct="0">
              <a:lnSpc>
                <a:spcPct val="100000"/>
              </a:lnSpc>
              <a:spcBef>
                <a:spcPct val="0"/>
              </a:spcBef>
              <a:spcAft>
                <a:spcPct val="0"/>
              </a:spcAft>
              <a:buFontTx/>
              <a:buChar char="•"/>
            </a:pPr>
            <a:r>
              <a:rPr lang="en-US" sz="1600" b="1" dirty="0"/>
              <a:t>D. S. Joseph, P. M. Pawar, and K. </a:t>
            </a:r>
            <a:r>
              <a:rPr lang="en-US" sz="1600" b="1" dirty="0" err="1"/>
              <a:t>Chakradeo</a:t>
            </a:r>
            <a:r>
              <a:rPr lang="en-US" sz="1600" dirty="0"/>
              <a:t>, “Development of Real-Time Video Dataset and Automated Face Mask Detection Using CNN Models,” </a:t>
            </a:r>
            <a:r>
              <a:rPr lang="en-US" sz="1600" i="1" dirty="0"/>
              <a:t>IEEE Access</a:t>
            </a:r>
            <a:r>
              <a:rPr lang="en-US" sz="1600" dirty="0"/>
              <a:t>, vol. 12, pp. 16310–16333, 2024.</a:t>
            </a:r>
          </a:p>
          <a:p>
            <a:pPr marL="0" lvl="0" indent="0" eaLnBrk="0" fontAlgn="base" hangingPunct="0">
              <a:lnSpc>
                <a:spcPct val="100000"/>
              </a:lnSpc>
              <a:spcBef>
                <a:spcPct val="0"/>
              </a:spcBef>
              <a:spcAft>
                <a:spcPct val="0"/>
              </a:spcAft>
              <a:buFontTx/>
              <a:buChar char="•"/>
            </a:pPr>
            <a:r>
              <a:rPr lang="en-US" sz="1600" b="1" dirty="0"/>
              <a:t>M. Wen and J. He</a:t>
            </a:r>
            <a:r>
              <a:rPr lang="en-US" sz="1600" dirty="0"/>
              <a:t>, “Improved </a:t>
            </a:r>
            <a:r>
              <a:rPr lang="en-US" sz="1600" dirty="0" err="1"/>
              <a:t>EfficientNet</a:t>
            </a:r>
            <a:r>
              <a:rPr lang="en-US" sz="1600" dirty="0"/>
              <a:t> Approach for Real-Time Facial Mask Recognition in Public Monitoring Environments,” </a:t>
            </a:r>
            <a:r>
              <a:rPr lang="en-US" sz="1600" i="1" dirty="0"/>
              <a:t>Frontiers in Computer Science</a:t>
            </a:r>
            <a:r>
              <a:rPr lang="en-US" sz="1600" dirty="0"/>
              <a:t>, vol. 8, art. 1310042, Jan. 2024.</a:t>
            </a:r>
          </a:p>
          <a:p>
            <a:pPr marL="0" lvl="0" indent="0" eaLnBrk="0" fontAlgn="base" hangingPunct="0">
              <a:lnSpc>
                <a:spcPct val="100000"/>
              </a:lnSpc>
              <a:spcBef>
                <a:spcPct val="0"/>
              </a:spcBef>
              <a:spcAft>
                <a:spcPct val="0"/>
              </a:spcAft>
              <a:buFontTx/>
              <a:buChar char="•"/>
            </a:pPr>
            <a:r>
              <a:rPr lang="en-US" sz="1600" b="1" dirty="0"/>
              <a:t> J. S. Krishna et al.</a:t>
            </a:r>
            <a:r>
              <a:rPr lang="en-US" sz="1600" dirty="0"/>
              <a:t>, “Deep Learning-Based Face Mask Detection Using Multi-Dataset Training,” </a:t>
            </a:r>
            <a:r>
              <a:rPr lang="en-US" sz="1600" i="1" dirty="0"/>
              <a:t>Sensors</a:t>
            </a:r>
            <a:r>
              <a:rPr lang="en-US" sz="1600" dirty="0"/>
              <a:t>, vol. 18, no. 1, art. 4, Jan. 2025.</a:t>
            </a:r>
            <a:r>
              <a:rPr kumimoji="0" lang="en-US" altLang="en-US" sz="1500" i="0" u="none" strike="noStrike" cap="none" normalizeH="0" baseline="0" dirty="0">
                <a:ln>
                  <a:noFill/>
                </a:ln>
                <a:solidFill>
                  <a:schemeClr val="tx1"/>
                </a:solidFill>
                <a:effectLst/>
                <a:latin typeface="Arial" panose="020B0604020202020204" pitchFamily="34" charset="0"/>
              </a:rPr>
              <a:t>S. Woo, Z. Xi, F. Liu, W. Hu, H. Feng, and Q. Zhang, “A Deep Semantic Network Based Image Segmentation of Soybean Rust Pathogens,” </a:t>
            </a:r>
            <a:r>
              <a:rPr kumimoji="0" lang="en-US" altLang="en-US" sz="1500" i="1" u="none" strike="noStrike" cap="none" normalizeH="0" baseline="0" dirty="0">
                <a:ln>
                  <a:noFill/>
                </a:ln>
                <a:solidFill>
                  <a:schemeClr val="tx1"/>
                </a:solidFill>
                <a:effectLst/>
                <a:latin typeface="Arial" panose="020B0604020202020204" pitchFamily="34" charset="0"/>
              </a:rPr>
              <a:t>Frontiers in Plant Science</a:t>
            </a:r>
            <a:r>
              <a:rPr kumimoji="0" lang="en-US" altLang="en-US" sz="1500" i="0" u="none" strike="noStrike" cap="none" normalizeH="0" baseline="0" dirty="0">
                <a:ln>
                  <a:noFill/>
                </a:ln>
                <a:solidFill>
                  <a:schemeClr val="tx1"/>
                </a:solidFill>
                <a:effectLst/>
                <a:latin typeface="Arial" panose="020B0604020202020204" pitchFamily="34" charset="0"/>
              </a:rPr>
              <a:t>, vol. 15, art. 1340584, Jun. 2024.</a:t>
            </a:r>
          </a:p>
          <a:p>
            <a:pPr marL="0" lvl="0" indent="0" eaLnBrk="0" fontAlgn="base" hangingPunct="0">
              <a:lnSpc>
                <a:spcPct val="100000"/>
              </a:lnSpc>
              <a:spcBef>
                <a:spcPct val="0"/>
              </a:spcBef>
              <a:spcAft>
                <a:spcPct val="0"/>
              </a:spcAft>
              <a:buFontTx/>
              <a:buChar char="•"/>
            </a:pPr>
            <a:r>
              <a:rPr lang="en-US" sz="1600" b="1" dirty="0"/>
              <a:t>S. Latif et al.</a:t>
            </a:r>
            <a:r>
              <a:rPr lang="en-US" sz="1600" dirty="0"/>
              <a:t>, “Classification of Face Mask Wearing Status Using Advanced Neural Network Approaches,” </a:t>
            </a:r>
            <a:r>
              <a:rPr lang="en-US" sz="1600" i="1" dirty="0"/>
              <a:t>Proc. 2024 Int’l Conf. Advances in Electrical, Computing, Communication and Sustainable Technologies (ICAECT)</a:t>
            </a:r>
            <a:r>
              <a:rPr lang="en-US" sz="1600" dirty="0"/>
              <a:t>, 2024.</a:t>
            </a:r>
          </a:p>
          <a:p>
            <a:pPr marL="0" lvl="0" indent="0" eaLnBrk="0" fontAlgn="base" hangingPunct="0">
              <a:lnSpc>
                <a:spcPct val="100000"/>
              </a:lnSpc>
              <a:spcBef>
                <a:spcPct val="0"/>
              </a:spcBef>
              <a:spcAft>
                <a:spcPct val="0"/>
              </a:spcAft>
              <a:buFontTx/>
              <a:buChar char="•"/>
            </a:pPr>
            <a:r>
              <a:rPr lang="en-US" sz="1600" b="1" dirty="0"/>
              <a:t>S. </a:t>
            </a:r>
            <a:r>
              <a:rPr lang="en-US" sz="1600" b="1" dirty="0" err="1"/>
              <a:t>Bogireddy</a:t>
            </a:r>
            <a:r>
              <a:rPr lang="en-US" sz="1600" b="1" dirty="0"/>
              <a:t> and H. Murari</a:t>
            </a:r>
            <a:r>
              <a:rPr lang="en-US" sz="1600" dirty="0"/>
              <a:t>, “Hybrid Deep Learning Model for Accurate Face Mask Detection Using U-Net and EfficientNetB7,” </a:t>
            </a:r>
            <a:r>
              <a:rPr lang="en-US" sz="1600" i="1" dirty="0"/>
              <a:t>Proc. ICPECTS 2024</a:t>
            </a:r>
            <a:r>
              <a:rPr lang="en-US" sz="1600" dirty="0"/>
              <a:t>, Oct. 2024.</a:t>
            </a:r>
          </a:p>
          <a:p>
            <a:pPr marL="0" lvl="0" indent="0" eaLnBrk="0" fontAlgn="base" hangingPunct="0">
              <a:lnSpc>
                <a:spcPct val="100000"/>
              </a:lnSpc>
              <a:spcBef>
                <a:spcPct val="0"/>
              </a:spcBef>
              <a:spcAft>
                <a:spcPct val="0"/>
              </a:spcAft>
              <a:buFontTx/>
              <a:buChar char="•"/>
            </a:pPr>
            <a:r>
              <a:rPr lang="en-US" sz="1600" b="1" dirty="0"/>
              <a:t>J. Amara, B. König Ries, and S. Samuel</a:t>
            </a:r>
            <a:r>
              <a:rPr lang="en-US" sz="1600" dirty="0"/>
              <a:t>, “Explainability of Deep Learning-Based Face Mask Classifiers Through Automated Concept Identification,” </a:t>
            </a:r>
            <a:r>
              <a:rPr lang="en-US" sz="1600" i="1" dirty="0" err="1"/>
              <a:t>arXiv</a:t>
            </a:r>
            <a:r>
              <a:rPr lang="en-US" sz="1600" i="1" dirty="0"/>
              <a:t> Preprint</a:t>
            </a:r>
            <a:r>
              <a:rPr lang="en-US" sz="1600" dirty="0"/>
              <a:t>, Dec. 2024.</a:t>
            </a:r>
          </a:p>
          <a:p>
            <a:pPr marL="0" lvl="0" indent="0" eaLnBrk="0" fontAlgn="base" hangingPunct="0">
              <a:lnSpc>
                <a:spcPct val="100000"/>
              </a:lnSpc>
              <a:spcBef>
                <a:spcPct val="0"/>
              </a:spcBef>
              <a:spcAft>
                <a:spcPct val="0"/>
              </a:spcAft>
              <a:buFontTx/>
              <a:buChar char="•"/>
            </a:pPr>
            <a:r>
              <a:rPr lang="en-US" sz="1600" b="1" dirty="0"/>
              <a:t>P. E. C. da Silva and J. Almeida</a:t>
            </a:r>
            <a:r>
              <a:rPr lang="en-US" sz="1600" dirty="0"/>
              <a:t>, “Edge-Based Real-Time Face Mask Detection for IoT-Integrated Surveillance Systems,” </a:t>
            </a:r>
            <a:r>
              <a:rPr lang="en-US" sz="1600" i="1" dirty="0" err="1"/>
              <a:t>arXiv</a:t>
            </a:r>
            <a:r>
              <a:rPr lang="en-US" sz="1600" i="1" dirty="0"/>
              <a:t> Preprint</a:t>
            </a:r>
            <a:r>
              <a:rPr lang="en-US" sz="1600" dirty="0"/>
              <a:t>, Nov. 2024.</a:t>
            </a:r>
          </a:p>
          <a:p>
            <a:pPr marL="0" lvl="0" indent="0" eaLnBrk="0" fontAlgn="base" hangingPunct="0">
              <a:lnSpc>
                <a:spcPct val="100000"/>
              </a:lnSpc>
              <a:spcBef>
                <a:spcPct val="0"/>
              </a:spcBef>
              <a:spcAft>
                <a:spcPct val="0"/>
              </a:spcAft>
              <a:buFontTx/>
              <a:buChar char="•"/>
            </a:pPr>
            <a:r>
              <a:rPr lang="en-IN" sz="1600" b="1" dirty="0"/>
              <a:t>S. N. T. Rao et al.</a:t>
            </a:r>
            <a:r>
              <a:rPr lang="en-IN" sz="1600" dirty="0"/>
              <a:t>, “Deep Learning-Based Face Mask Identification: Enhancing Classification using </a:t>
            </a:r>
            <a:r>
              <a:rPr lang="en-IN" sz="1600" dirty="0" err="1"/>
              <a:t>AlexNet</a:t>
            </a:r>
            <a:r>
              <a:rPr lang="en-IN" sz="1600" dirty="0"/>
              <a:t>,” </a:t>
            </a:r>
            <a:r>
              <a:rPr lang="en-IN" sz="1600" i="1" dirty="0"/>
              <a:t>Proc. 2025 IEEE Int’l Conf. on Interdisciplinary Approaches in Technology and Management for Social Innovation (IATMSI)</a:t>
            </a:r>
            <a:r>
              <a:rPr lang="en-IN" sz="1600" dirty="0"/>
              <a:t>, 2025.</a:t>
            </a:r>
            <a:endParaRPr kumimoji="0" lang="en-US" altLang="en-US" sz="15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510123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            ACKNOWLEDGEMENTS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18565" y="1573306"/>
            <a:ext cx="11066929" cy="4783044"/>
          </a:xfrm>
        </p:spPr>
        <p:txBody>
          <a:bodyPr>
            <a:noAutofit/>
          </a:bodyPr>
          <a:lstStyle/>
          <a:p>
            <a:r>
              <a:rPr lang="en-US" sz="2000" dirty="0">
                <a:latin typeface="Times New Roman" panose="02020603050405020304" pitchFamily="18" charset="0"/>
                <a:cs typeface="Times New Roman" panose="02020603050405020304" pitchFamily="18" charset="0"/>
              </a:rPr>
              <a:t>We would like to express our sincere gratitude to the faculty and staff of Narasaraopeta Engineering College for their guidance and encouragement throughout the development of this project. Their insights and expertise have been invaluable.</a:t>
            </a:r>
          </a:p>
          <a:p>
            <a:r>
              <a:rPr lang="en-US" sz="2000" dirty="0">
                <a:latin typeface="Times New Roman" panose="02020603050405020304" pitchFamily="18" charset="0"/>
                <a:cs typeface="Times New Roman" panose="02020603050405020304" pitchFamily="18" charset="0"/>
              </a:rPr>
              <a:t>We also extend our thanks to the administration for providing the necessary resources and a platform to showcase our work. This opportunity has been instrumental in enhancing our learning and growth.</a:t>
            </a:r>
          </a:p>
          <a:p>
            <a:r>
              <a:rPr lang="en-US" sz="2000" dirty="0">
                <a:latin typeface="Times New Roman" panose="02020603050405020304" pitchFamily="18" charset="0"/>
                <a:cs typeface="Times New Roman" panose="02020603050405020304" pitchFamily="18" charset="0"/>
              </a:rPr>
              <a:t>For any questions or further discussions, feel free to reach out:-</a:t>
            </a:r>
          </a:p>
          <a:p>
            <a:pPr marL="0" indent="0">
              <a:buNone/>
            </a:pPr>
            <a:r>
              <a:rPr lang="en-US" sz="2000" dirty="0">
                <a:latin typeface="Times New Roman" panose="02020603050405020304" pitchFamily="18" charset="0"/>
                <a:cs typeface="Times New Roman" panose="02020603050405020304" pitchFamily="18" charset="0"/>
              </a:rPr>
              <a:t>Team No:AB</a:t>
            </a:r>
            <a:r>
              <a:rPr lang="en-US" sz="2000" b="1" dirty="0">
                <a:latin typeface="Times New Roman" panose="02020603050405020304" pitchFamily="18" charset="0"/>
                <a:cs typeface="Times New Roman" panose="02020603050405020304" pitchFamily="18" charset="0"/>
              </a:rPr>
              <a:t>10</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Guide: </a:t>
            </a:r>
            <a:r>
              <a:rPr lang="en-US" sz="2000" dirty="0" err="1">
                <a:latin typeface="Times New Roman" panose="02020603050405020304" pitchFamily="18" charset="0"/>
                <a:cs typeface="Times New Roman" panose="02020603050405020304" pitchFamily="18" charset="0"/>
              </a:rPr>
              <a:t>Dr.S.N.Tirumala</a:t>
            </a:r>
            <a:r>
              <a:rPr lang="en-US" sz="2000" dirty="0">
                <a:latin typeface="Times New Roman" panose="02020603050405020304" pitchFamily="18" charset="0"/>
                <a:cs typeface="Times New Roman" panose="02020603050405020304" pitchFamily="18" charset="0"/>
              </a:rPr>
              <a:t> Rao</a:t>
            </a:r>
          </a:p>
          <a:p>
            <a:pPr marL="0" indent="0">
              <a:buNone/>
            </a:pPr>
            <a:r>
              <a:rPr lang="en-US" sz="2000" dirty="0">
                <a:latin typeface="Times New Roman" panose="02020603050405020304" pitchFamily="18" charset="0"/>
                <a:cs typeface="Times New Roman" panose="02020603050405020304" pitchFamily="18" charset="0"/>
              </a:rPr>
              <a:t>Roll No’s: 22471A0503</a:t>
            </a:r>
          </a:p>
          <a:p>
            <a:pPr marL="0" indent="0">
              <a:buNone/>
            </a:pPr>
            <a:r>
              <a:rPr lang="en-US" sz="2000" dirty="0">
                <a:latin typeface="Times New Roman" panose="02020603050405020304" pitchFamily="18" charset="0"/>
                <a:cs typeface="Times New Roman" panose="02020603050405020304" pitchFamily="18" charset="0"/>
              </a:rPr>
              <a:t>                  22471A0532</a:t>
            </a:r>
          </a:p>
          <a:p>
            <a:pPr marL="0" indent="0">
              <a:buNone/>
            </a:pPr>
            <a:r>
              <a:rPr lang="en-US" sz="2000" dirty="0">
                <a:latin typeface="Times New Roman" panose="02020603050405020304" pitchFamily="18" charset="0"/>
                <a:cs typeface="Times New Roman" panose="02020603050405020304" pitchFamily="18" charset="0"/>
              </a:rPr>
              <a:t>                  22471A0567                    </a:t>
            </a:r>
          </a:p>
          <a:p>
            <a:pPr marL="0" indent="0">
              <a:buNone/>
            </a:pPr>
            <a:r>
              <a:rPr lang="en-US" sz="2000" dirty="0">
                <a:latin typeface="Times New Roman" panose="02020603050405020304" pitchFamily="18" charset="0"/>
                <a:cs typeface="Times New Roman" panose="02020603050405020304" pitchFamily="18" charset="0"/>
              </a:rPr>
              <a:t>                                                                         Thank You</a:t>
            </a:r>
          </a:p>
          <a:p>
            <a:pPr marL="0" indent="0">
              <a:buNone/>
            </a:pPr>
            <a:r>
              <a:rPr lang="en-US" sz="2300" dirty="0">
                <a:latin typeface="Times New Roman" panose="02020603050405020304" pitchFamily="18" charset="0"/>
                <a:cs typeface="Times New Roman" panose="02020603050405020304" pitchFamily="18" charset="0"/>
              </a:rPr>
              <a:t>                                           </a:t>
            </a:r>
          </a:p>
        </p:txBody>
      </p:sp>
      <p:sp>
        <p:nvSpPr>
          <p:cNvPr id="4" name="Date Placeholder 3"/>
          <p:cNvSpPr>
            <a:spLocks noGrp="1"/>
          </p:cNvSpPr>
          <p:nvPr>
            <p:ph type="dt" sz="half" idx="10"/>
          </p:nvPr>
        </p:nvSpPr>
        <p:spPr/>
        <p:txBody>
          <a:bodyPr/>
          <a:lstStyle/>
          <a:p>
            <a:r>
              <a:rPr lang="en-US"/>
              <a:t>10-11-2025</a:t>
            </a:r>
            <a:endParaRPr lang="en-IN" dirty="0"/>
          </a:p>
        </p:txBody>
      </p:sp>
      <p:sp>
        <p:nvSpPr>
          <p:cNvPr id="5" name="Footer Placeholder 4"/>
          <p:cNvSpPr>
            <a:spLocks noGrp="1"/>
          </p:cNvSpPr>
          <p:nvPr>
            <p:ph type="ftr" sz="quarter" idx="11"/>
          </p:nvPr>
        </p:nvSpPr>
        <p:spPr/>
        <p:txBody>
          <a:bodyPr/>
          <a:lstStyle/>
          <a:p>
            <a:r>
              <a:rPr lang="en-US"/>
              <a:t>Review No. 01         Batch No.  AB6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27</a:t>
            </a:fld>
            <a:endParaRPr lang="en-IN"/>
          </a:p>
        </p:txBody>
      </p:sp>
    </p:spTree>
    <p:extLst>
      <p:ext uri="{BB962C8B-B14F-4D97-AF65-F5344CB8AC3E}">
        <p14:creationId xmlns:p14="http://schemas.microsoft.com/office/powerpoint/2010/main" val="3460599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47700"/>
            <a:ext cx="10515600" cy="635000"/>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System Requirements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82700"/>
            <a:ext cx="10871200" cy="4894263"/>
          </a:xfrm>
        </p:spPr>
        <p:txBody>
          <a:bodyPr>
            <a:normAutofit fontScale="92500" lnSpcReduction="10000"/>
          </a:bodyPr>
          <a:lstStyle/>
          <a:p>
            <a:pPr>
              <a:buNone/>
              <a:tabLst>
                <a:tab pos="3860800" algn="l"/>
                <a:tab pos="5473700" algn="l"/>
              </a:tabLst>
            </a:pPr>
            <a:r>
              <a:rPr lang="en-US" sz="2600" b="1" dirty="0">
                <a:latin typeface="Times New Roman" panose="02020603050405020304" pitchFamily="18" charset="0"/>
                <a:cs typeface="Times New Roman" panose="02020603050405020304" pitchFamily="18" charset="0"/>
              </a:rPr>
              <a:t>Hardware Requirements</a:t>
            </a:r>
            <a:endParaRPr lang="en-IN" sz="2600" dirty="0">
              <a:latin typeface="Times New Roman" panose="02020603050405020304" pitchFamily="18" charset="0"/>
              <a:cs typeface="Times New Roman" panose="02020603050405020304" pitchFamily="18" charset="0"/>
            </a:endParaRPr>
          </a:p>
          <a:p>
            <a:pPr lvl="0" defTabSz="1041400">
              <a:tabLst>
                <a:tab pos="3860800" algn="l"/>
                <a:tab pos="5473700" algn="l"/>
              </a:tabLst>
            </a:pPr>
            <a:r>
              <a:rPr lang="en-US" sz="2600" dirty="0">
                <a:latin typeface="Times New Roman" panose="02020603050405020304" pitchFamily="18" charset="0"/>
                <a:cs typeface="Times New Roman" panose="02020603050405020304" pitchFamily="18" charset="0"/>
              </a:rPr>
              <a:t>Processor	:	intel Core i5</a:t>
            </a:r>
            <a:endParaRPr lang="en-IN" sz="2600" dirty="0">
              <a:latin typeface="Times New Roman" panose="02020603050405020304" pitchFamily="18" charset="0"/>
              <a:cs typeface="Times New Roman" panose="02020603050405020304" pitchFamily="18" charset="0"/>
            </a:endParaRPr>
          </a:p>
          <a:p>
            <a:pPr lvl="0" defTabSz="1790700">
              <a:tabLst>
                <a:tab pos="3860800" algn="l"/>
                <a:tab pos="5473700" algn="l"/>
              </a:tabLst>
            </a:pPr>
            <a:r>
              <a:rPr lang="en-US" sz="2600" dirty="0">
                <a:latin typeface="Times New Roman" panose="02020603050405020304" pitchFamily="18" charset="0"/>
                <a:cs typeface="Times New Roman" panose="02020603050405020304" pitchFamily="18" charset="0"/>
              </a:rPr>
              <a:t>Cache memory	:	4MB(Megabyte)</a:t>
            </a:r>
            <a:r>
              <a:rPr lang="en-IN" sz="26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600" dirty="0">
                <a:latin typeface="Times New Roman" panose="02020603050405020304" pitchFamily="18" charset="0"/>
                <a:cs typeface="Times New Roman" panose="02020603050405020304" pitchFamily="18" charset="0"/>
              </a:rPr>
              <a:t>RAM	</a:t>
            </a:r>
            <a:r>
              <a:rPr lang="en-I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12.7GB (gigabyte)</a:t>
            </a:r>
            <a:r>
              <a:rPr lang="en-IN" sz="26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600" dirty="0">
                <a:latin typeface="Times New Roman" panose="02020603050405020304" pitchFamily="18" charset="0"/>
                <a:cs typeface="Times New Roman" panose="02020603050405020304" pitchFamily="18" charset="0"/>
              </a:rPr>
              <a:t>Hard Disk</a:t>
            </a:r>
            <a:r>
              <a:rPr lang="en-I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166.8GB</a:t>
            </a:r>
            <a:r>
              <a:rPr lang="en-IN" sz="2600" dirty="0">
                <a:latin typeface="Times New Roman" panose="02020603050405020304" pitchFamily="18" charset="0"/>
                <a:cs typeface="Times New Roman" panose="02020603050405020304" pitchFamily="18" charset="0"/>
              </a:rPr>
              <a:t> </a:t>
            </a:r>
          </a:p>
          <a:p>
            <a:pPr lvl="0">
              <a:tabLst>
                <a:tab pos="3860800" algn="l"/>
                <a:tab pos="5473700" algn="l"/>
              </a:tabLst>
            </a:pPr>
            <a:r>
              <a:rPr lang="en-IN" sz="2600" dirty="0">
                <a:latin typeface="Times New Roman" panose="02020603050405020304" pitchFamily="18" charset="0"/>
                <a:cs typeface="Times New Roman" panose="02020603050405020304" pitchFamily="18" charset="0"/>
              </a:rPr>
              <a:t>Compute Engine      	:	 T4 GPU</a:t>
            </a:r>
          </a:p>
          <a:p>
            <a:pPr lvl="0">
              <a:buNone/>
              <a:tabLst>
                <a:tab pos="3860800" algn="l"/>
                <a:tab pos="5473700" algn="l"/>
              </a:tabLst>
            </a:pPr>
            <a:r>
              <a:rPr lang="en-US" sz="2600" b="1" dirty="0">
                <a:latin typeface="Times New Roman" panose="02020603050405020304" pitchFamily="18" charset="0"/>
                <a:cs typeface="Times New Roman" panose="02020603050405020304" pitchFamily="18" charset="0"/>
              </a:rPr>
              <a:t>Software Requirements</a:t>
            </a:r>
            <a:endParaRPr lang="en-IN" sz="2600" dirty="0">
              <a:latin typeface="Times New Roman" panose="02020603050405020304" pitchFamily="18" charset="0"/>
              <a:cs typeface="Times New Roman" panose="02020603050405020304" pitchFamily="18" charset="0"/>
            </a:endParaRPr>
          </a:p>
          <a:p>
            <a:pPr lvl="0">
              <a:tabLst>
                <a:tab pos="3860800" algn="l"/>
                <a:tab pos="5473700" algn="l"/>
              </a:tabLst>
            </a:pPr>
            <a:r>
              <a:rPr lang="en-US" sz="2600" dirty="0">
                <a:latin typeface="Times New Roman" panose="02020603050405020304" pitchFamily="18" charset="0"/>
                <a:cs typeface="Times New Roman" panose="02020603050405020304" pitchFamily="18" charset="0"/>
              </a:rPr>
              <a:t>Operating System</a:t>
            </a:r>
            <a:r>
              <a:rPr lang="en-I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Windows 10, 64-bit Operating System</a:t>
            </a:r>
            <a:r>
              <a:rPr lang="en-IN" sz="26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600" dirty="0">
                <a:latin typeface="Times New Roman" panose="02020603050405020304" pitchFamily="18" charset="0"/>
                <a:cs typeface="Times New Roman" panose="02020603050405020304" pitchFamily="18" charset="0"/>
              </a:rPr>
              <a:t>Coding Language</a:t>
            </a:r>
            <a:r>
              <a:rPr lang="en-I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Python</a:t>
            </a:r>
            <a:r>
              <a:rPr lang="en-IN" sz="26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600" dirty="0">
                <a:latin typeface="Times New Roman" panose="02020603050405020304" pitchFamily="18" charset="0"/>
                <a:cs typeface="Times New Roman" panose="02020603050405020304" pitchFamily="18" charset="0"/>
              </a:rPr>
              <a:t>Python distribution</a:t>
            </a:r>
            <a:r>
              <a:rPr lang="en-I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Google Colab , Flask</a:t>
            </a:r>
            <a:r>
              <a:rPr lang="en-IN" sz="26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600" dirty="0">
                <a:latin typeface="Times New Roman" panose="02020603050405020304" pitchFamily="18" charset="0"/>
                <a:cs typeface="Times New Roman" panose="02020603050405020304" pitchFamily="18" charset="0"/>
              </a:rPr>
              <a:t>Browser	: 	Any Latest Browser like Chrome</a:t>
            </a:r>
            <a:r>
              <a:rPr lang="en-IN" sz="2600" dirty="0">
                <a:latin typeface="Times New Roman" panose="02020603050405020304" pitchFamily="18" charset="0"/>
                <a:cs typeface="Times New Roman" panose="02020603050405020304" pitchFamily="18" charset="0"/>
              </a:rPr>
              <a:t> </a:t>
            </a:r>
          </a:p>
          <a:p>
            <a:endParaRPr lang="en-IN" dirty="0"/>
          </a:p>
        </p:txBody>
      </p:sp>
      <p:sp>
        <p:nvSpPr>
          <p:cNvPr id="4" name="Date Placeholder 3"/>
          <p:cNvSpPr>
            <a:spLocks noGrp="1"/>
          </p:cNvSpPr>
          <p:nvPr>
            <p:ph type="dt" sz="half" idx="10"/>
          </p:nvPr>
        </p:nvSpPr>
        <p:spPr/>
        <p:txBody>
          <a:bodyPr/>
          <a:lstStyle/>
          <a:p>
            <a:r>
              <a:rPr lang="en-US"/>
              <a:t>10-11-2025</a:t>
            </a:r>
            <a:endParaRPr lang="en-IN" dirty="0"/>
          </a:p>
        </p:txBody>
      </p:sp>
      <p:sp>
        <p:nvSpPr>
          <p:cNvPr id="5" name="Footer Placeholder 4"/>
          <p:cNvSpPr>
            <a:spLocks noGrp="1"/>
          </p:cNvSpPr>
          <p:nvPr>
            <p:ph type="ftr" sz="quarter" idx="11"/>
          </p:nvPr>
        </p:nvSpPr>
        <p:spPr/>
        <p:txBody>
          <a:bodyPr/>
          <a:lstStyle/>
          <a:p>
            <a:r>
              <a:rPr lang="en-US"/>
              <a:t>Review No. 01         Batch No.  AB6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28</a:t>
            </a:fld>
            <a:endParaRPr lang="en-IN"/>
          </a:p>
        </p:txBody>
      </p:sp>
    </p:spTree>
    <p:extLst>
      <p:ext uri="{BB962C8B-B14F-4D97-AF65-F5344CB8AC3E}">
        <p14:creationId xmlns:p14="http://schemas.microsoft.com/office/powerpoint/2010/main" val="30984970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AB6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29</a:t>
            </a:fld>
            <a:endParaRPr lang="en-US">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E40E4EB-4ECD-17B6-333E-19F5E4D33A37}"/>
              </a:ext>
            </a:extLst>
          </p:cNvPr>
          <p:cNvPicPr>
            <a:picLocks noChangeAspect="1"/>
          </p:cNvPicPr>
          <p:nvPr/>
        </p:nvPicPr>
        <p:blipFill>
          <a:blip r:embed="rId2"/>
          <a:stretch>
            <a:fillRect/>
          </a:stretch>
        </p:blipFill>
        <p:spPr>
          <a:xfrm>
            <a:off x="2980890" y="1447523"/>
            <a:ext cx="6230219" cy="3962953"/>
          </a:xfrm>
          <a:prstGeom prst="rect">
            <a:avLst/>
          </a:prstGeom>
        </p:spPr>
      </p:pic>
    </p:spTree>
    <p:extLst>
      <p:ext uri="{BB962C8B-B14F-4D97-AF65-F5344CB8AC3E}">
        <p14:creationId xmlns:p14="http://schemas.microsoft.com/office/powerpoint/2010/main" val="1004913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3611</TotalTime>
  <Words>2601</Words>
  <Application>Microsoft Office PowerPoint</Application>
  <PresentationFormat>Widescreen</PresentationFormat>
  <Paragraphs>310</Paragraphs>
  <Slides>29</Slides>
  <Notes>1</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Calibri Light</vt:lpstr>
      <vt:lpstr>Times New Roman</vt:lpstr>
      <vt:lpstr>Wingdings</vt:lpstr>
      <vt:lpstr>Office Theme</vt:lpstr>
      <vt:lpstr>PowerPoint Presentation</vt:lpstr>
      <vt:lpstr>OUTLINE</vt:lpstr>
      <vt:lpstr>ABSTRACT</vt:lpstr>
      <vt:lpstr>INTRODUCTION</vt:lpstr>
      <vt:lpstr>LITERATURE SURVEY</vt:lpstr>
      <vt:lpstr>LITERATURE SURVEY</vt:lpstr>
      <vt:lpstr>RESEARCH GAPS</vt:lpstr>
      <vt:lpstr>PROBLEM STATEMENT</vt:lpstr>
      <vt:lpstr>OBJECTIVES</vt:lpstr>
      <vt:lpstr>BLOCK DIAGRAM OR FLOW DIAGRAM</vt:lpstr>
      <vt:lpstr>METHODOLOGY</vt:lpstr>
      <vt:lpstr>PowerPoint Presentation</vt:lpstr>
      <vt:lpstr>METHODOLOGY</vt:lpstr>
      <vt:lpstr>METHODOLOGY</vt:lpstr>
      <vt:lpstr>Implementation</vt:lpstr>
      <vt:lpstr>METHODOLOGY</vt:lpstr>
      <vt:lpstr>Challenges  Vs Overcomes</vt:lpstr>
      <vt:lpstr>PowerPoint Presentation</vt:lpstr>
      <vt:lpstr>Implementation of Frontend</vt:lpstr>
      <vt:lpstr>PowerPoint Presentation</vt:lpstr>
      <vt:lpstr>PowerPoint Presentation</vt:lpstr>
      <vt:lpstr>PowerPoint Presentation</vt:lpstr>
      <vt:lpstr>              RESULTS &amp; ANALYSIS</vt:lpstr>
      <vt:lpstr>RESULTS &amp; ANALYSIS</vt:lpstr>
      <vt:lpstr>CONCLUSION &amp; FUTURE SCOPE</vt:lpstr>
      <vt:lpstr>REFERENCES</vt:lpstr>
      <vt:lpstr>            ACKNOWLEDGEMENTS</vt:lpstr>
      <vt:lpstr>System Requirements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admin</dc:creator>
  <cp:lastModifiedBy>Kondaveeti Venu gopal</cp:lastModifiedBy>
  <cp:revision>145</cp:revision>
  <dcterms:created xsi:type="dcterms:W3CDTF">2023-12-22T11:34:02Z</dcterms:created>
  <dcterms:modified xsi:type="dcterms:W3CDTF">2025-12-06T05:23:30Z</dcterms:modified>
</cp:coreProperties>
</file>